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577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GridGuard AI: a dual-layer hybrid monitoring system designed to detect cable theft in real time — even during outages and load shedding. This is a major problem in South Africa and developing nations.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 Africa alone loses hundreds of millions yearly to cable theft. The core issue is reactive detection — by the time someone reports it, the cables are gone.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two layers: a master transformer node running GSM Commander hardware, and low-cost ESP32 endpoints at household meter boxes. Together they provide full visibility from the source to the end user.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overview: CTM001 is an industrial-grade unit deployed at transformer sites. ESP32 nodes are cheap, sub-$10 devices in household meter boxes. The AI cloud ties it all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selling point: GridGuard AI is the only solution that remains active during load shedding via DC continuity pulse injection. This is the window thieves currently exploit.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detection flow. The key innovation is step 2 — DC pulse injection means the system doesn't go blind during load shedding, when 80% of cable theft occurs.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ROI message: one prevented theft pays for the entire pilot zone installation. Municipalities spend 500K to 2M on each major cable theft incident in replacement and labor. GridGuard AI pays for itself immediately.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GridGuard AI is ready for pilot deployment. The demo at the hackathon shows a physical wire cut triggering a live dashboard alert and SMS — within 15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5669280" y="-1371600"/>
            <a:ext cx="5486400" cy="5486400"/>
          </a:xfrm>
          <a:prstGeom prst="ellipse">
            <a:avLst/>
          </a:prstGeom>
          <a:solidFill>
            <a:srgbClr val="1A2A45">
              <a:alpha val="40000"/>
            </a:srgbClr>
          </a:solidFill>
          <a:ln w="12700">
            <a:solidFill>
              <a:srgbClr val="0D9488">
                <a:alpha val="60000"/>
              </a:srgbClr>
            </a:solidFill>
            <a:prstDash val="solid"/>
          </a:ln>
        </p:spPr>
      </p:sp>
      <p:sp>
        <p:nvSpPr>
          <p:cNvPr id="3" name="Shape 1"/>
          <p:cNvSpPr/>
          <p:nvPr/>
        </p:nvSpPr>
        <p:spPr>
          <a:xfrm>
            <a:off x="6217920" y="-914400"/>
            <a:ext cx="4389120" cy="4389120"/>
          </a:xfrm>
          <a:prstGeom prst="ellipse">
            <a:avLst/>
          </a:prstGeom>
          <a:solidFill>
            <a:srgbClr val="131F35">
              <a:alpha val="50000"/>
            </a:srgbClr>
          </a:solidFill>
          <a:ln w="12700">
            <a:solidFill>
              <a:srgbClr val="F59E0B">
                <a:alpha val="40000"/>
              </a:srgbClr>
            </a:solidFill>
            <a:prstDash val="solid"/>
          </a:ln>
        </p:spPr>
      </p:sp>
      <p:sp>
        <p:nvSpPr>
          <p:cNvPr id="9" name="Shape 7"/>
          <p:cNvSpPr/>
          <p:nvPr/>
        </p:nvSpPr>
        <p:spPr>
          <a:xfrm>
            <a:off x="457200" y="502920"/>
            <a:ext cx="2011680" cy="347472"/>
          </a:xfrm>
          <a:prstGeom prst="roundRect">
            <a:avLst>
              <a:gd name="adj" fmla="val 13158"/>
            </a:avLst>
          </a:prstGeom>
          <a:solidFill>
            <a:srgbClr val="0D9488"/>
          </a:solidFill>
          <a:ln/>
        </p:spPr>
      </p:sp>
      <p:sp>
        <p:nvSpPr>
          <p:cNvPr id="10" name="Text 8"/>
          <p:cNvSpPr/>
          <p:nvPr/>
        </p:nvSpPr>
        <p:spPr>
          <a:xfrm>
            <a:off x="457200" y="502920"/>
            <a:ext cx="2011680" cy="347472"/>
          </a:xfrm>
          <a:prstGeom prst="rect">
            <a:avLst/>
          </a:prstGeom>
          <a:noFill/>
          <a:ln/>
        </p:spPr>
        <p:txBody>
          <a:bodyPr wrap="square" lIns="0" tIns="0" rIns="0" bIns="0" rtlCol="0" anchor="ctr"/>
          <a:lstStyle/>
          <a:p>
            <a:pPr marL="0" indent="0" algn="ctr">
              <a:buNone/>
            </a:pPr>
            <a:r>
              <a:rPr lang="en-US" sz="800" b="1" kern="0" spc="200" dirty="0">
                <a:solidFill>
                  <a:srgbClr val="FFFFFF"/>
                </a:solidFill>
              </a:rPr>
              <a:t>SMART GRID SECURITY</a:t>
            </a:r>
            <a:endParaRPr lang="en-US" sz="800" dirty="0"/>
          </a:p>
        </p:txBody>
      </p:sp>
      <p:sp>
        <p:nvSpPr>
          <p:cNvPr id="11" name="Text 9"/>
          <p:cNvSpPr/>
          <p:nvPr/>
        </p:nvSpPr>
        <p:spPr>
          <a:xfrm>
            <a:off x="457200" y="1005840"/>
            <a:ext cx="640080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2K Innovators</a:t>
            </a:r>
            <a:endParaRPr lang="en-US" sz="4400" dirty="0"/>
          </a:p>
        </p:txBody>
      </p:sp>
      <p:sp>
        <p:nvSpPr>
          <p:cNvPr id="12" name="Text 10"/>
          <p:cNvSpPr/>
          <p:nvPr/>
        </p:nvSpPr>
        <p:spPr>
          <a:xfrm>
            <a:off x="457200" y="2148840"/>
            <a:ext cx="6400800" cy="502920"/>
          </a:xfrm>
          <a:prstGeom prst="rect">
            <a:avLst/>
          </a:prstGeom>
          <a:noFill/>
          <a:ln/>
        </p:spPr>
        <p:txBody>
          <a:bodyPr wrap="square" rtlCol="0" anchor="ctr"/>
          <a:lstStyle/>
          <a:p>
            <a:pPr marL="0" indent="0">
              <a:buNone/>
            </a:pPr>
            <a:r>
              <a:rPr lang="en-US" sz="2600" dirty="0">
                <a:solidFill>
                  <a:srgbClr val="FCD34D"/>
                </a:solidFill>
                <a:latin typeface="Calibri" pitchFamily="34" charset="0"/>
                <a:ea typeface="Calibri" pitchFamily="34" charset="-122"/>
                <a:cs typeface="Calibri" pitchFamily="34" charset="-120"/>
              </a:rPr>
              <a:t>Early-Warning Intelligent Power</a:t>
            </a:r>
            <a:endParaRPr lang="en-US" sz="2600" dirty="0"/>
          </a:p>
        </p:txBody>
      </p:sp>
      <p:sp>
        <p:nvSpPr>
          <p:cNvPr id="13" name="Text 11"/>
          <p:cNvSpPr/>
          <p:nvPr/>
        </p:nvSpPr>
        <p:spPr>
          <a:xfrm>
            <a:off x="457200" y="2606040"/>
            <a:ext cx="6400800" cy="502920"/>
          </a:xfrm>
          <a:prstGeom prst="rect">
            <a:avLst/>
          </a:prstGeom>
          <a:noFill/>
          <a:ln/>
        </p:spPr>
        <p:txBody>
          <a:bodyPr wrap="square" rtlCol="0" anchor="ctr"/>
          <a:lstStyle/>
          <a:p>
            <a:pPr marL="0" indent="0">
              <a:buNone/>
            </a:pPr>
            <a:r>
              <a:rPr lang="en-US" sz="2600" dirty="0">
                <a:solidFill>
                  <a:srgbClr val="FCD34D"/>
                </a:solidFill>
                <a:latin typeface="Calibri" pitchFamily="34" charset="0"/>
                <a:ea typeface="Calibri" pitchFamily="34" charset="-122"/>
                <a:cs typeface="Calibri" pitchFamily="34" charset="-120"/>
              </a:rPr>
              <a:t>Infrastructure Monitoring System</a:t>
            </a:r>
            <a:endParaRPr lang="en-US" sz="2600" dirty="0"/>
          </a:p>
        </p:txBody>
      </p:sp>
      <p:sp>
        <p:nvSpPr>
          <p:cNvPr id="14" name="Text 12"/>
          <p:cNvSpPr/>
          <p:nvPr/>
        </p:nvSpPr>
        <p:spPr>
          <a:xfrm>
            <a:off x="457200" y="3246120"/>
            <a:ext cx="6400800" cy="365760"/>
          </a:xfrm>
          <a:prstGeom prst="rect">
            <a:avLst/>
          </a:prstGeom>
          <a:noFill/>
          <a:ln/>
        </p:spPr>
        <p:txBody>
          <a:bodyPr wrap="square" rtlCol="0" anchor="ctr"/>
          <a:lstStyle/>
          <a:p>
            <a:pPr marL="0" indent="0">
              <a:buNone/>
            </a:pPr>
            <a:r>
              <a:rPr lang="en-US" sz="1500" i="1" dirty="0">
                <a:solidFill>
                  <a:srgbClr val="E2E8F0"/>
                </a:solidFill>
                <a:latin typeface="Calibri" pitchFamily="34" charset="0"/>
                <a:ea typeface="Calibri" pitchFamily="34" charset="-122"/>
                <a:cs typeface="Calibri" pitchFamily="34" charset="-120"/>
              </a:rPr>
              <a:t>Proactive cable theft detection — even during load shedding.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a:effectLst/>
      </p:bgPr>
    </p:bg>
    <p:spTree>
      <p:nvGrpSpPr>
        <p:cNvPr id="1" name=""/>
        <p:cNvGrpSpPr/>
        <p:nvPr/>
      </p:nvGrpSpPr>
      <p:grpSpPr>
        <a:xfrm>
          <a:off x="0" y="0"/>
          <a:ext cx="0" cy="0"/>
          <a:chOff x="0" y="0"/>
          <a:chExt cx="0" cy="0"/>
        </a:xfrm>
      </p:grpSpPr>
      <p:sp>
        <p:nvSpPr>
          <p:cNvPr id="3" name="Text 1"/>
          <p:cNvSpPr/>
          <p:nvPr/>
        </p:nvSpPr>
        <p:spPr>
          <a:xfrm>
            <a:off x="457200" y="0"/>
            <a:ext cx="8229600" cy="1005840"/>
          </a:xfrm>
          <a:prstGeom prst="rect">
            <a:avLst/>
          </a:prstGeom>
          <a:noFill/>
          <a:ln/>
        </p:spPr>
        <p:txBody>
          <a:bodyPr wrap="square" lIns="0" tIns="0" rIns="0" bIns="0" rtlCol="0" anchor="ctr"/>
          <a:lstStyle/>
          <a:p>
            <a:pPr marL="0" indent="0">
              <a:buNone/>
            </a:pPr>
            <a:r>
              <a:rPr lang="en-US" sz="1100" b="1" kern="0" spc="400" dirty="0">
                <a:solidFill>
                  <a:srgbClr val="0D9488"/>
                </a:solidFill>
              </a:rPr>
              <a:t>THE PROBLEM</a:t>
            </a:r>
            <a:endParaRPr lang="en-US" sz="1100" dirty="0"/>
          </a:p>
        </p:txBody>
      </p:sp>
      <p:sp>
        <p:nvSpPr>
          <p:cNvPr id="4" name="Text 2"/>
          <p:cNvSpPr/>
          <p:nvPr/>
        </p:nvSpPr>
        <p:spPr>
          <a:xfrm>
            <a:off x="457200" y="538793"/>
            <a:ext cx="8229600" cy="64008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Cable Theft Is Crippling Infrastructure</a:t>
            </a:r>
            <a:endParaRPr lang="en-US" sz="2800" dirty="0"/>
          </a:p>
        </p:txBody>
      </p:sp>
      <p:sp>
        <p:nvSpPr>
          <p:cNvPr id="5" name="Shape 3"/>
          <p:cNvSpPr/>
          <p:nvPr/>
        </p:nvSpPr>
        <p:spPr>
          <a:xfrm>
            <a:off x="274320" y="1188720"/>
            <a:ext cx="2011680" cy="3566160"/>
          </a:xfrm>
          <a:prstGeom prst="roundRect">
            <a:avLst>
              <a:gd name="adj" fmla="val 4545"/>
            </a:avLst>
          </a:prstGeom>
          <a:solidFill>
            <a:srgbClr val="1A2A45"/>
          </a:solidFill>
          <a:ln/>
          <a:effectLst>
            <a:outerShdw blurRad="127000" dist="38100" dir="2700000" algn="bl" rotWithShape="0">
              <a:srgbClr val="000000">
                <a:alpha val="25000"/>
              </a:srgbClr>
            </a:outerShdw>
          </a:effectLst>
        </p:spPr>
      </p:sp>
      <p:pic>
        <p:nvPicPr>
          <p:cNvPr id="6" name="Image 0" descr="preencoded.png"/>
          <p:cNvPicPr>
            <a:picLocks noChangeAspect="1"/>
          </p:cNvPicPr>
          <p:nvPr/>
        </p:nvPicPr>
        <p:blipFill>
          <a:blip r:embed="rId3"/>
          <a:stretch>
            <a:fillRect/>
          </a:stretch>
        </p:blipFill>
        <p:spPr>
          <a:xfrm>
            <a:off x="1024128" y="1463040"/>
            <a:ext cx="502920" cy="502920"/>
          </a:xfrm>
          <a:prstGeom prst="rect">
            <a:avLst/>
          </a:prstGeom>
        </p:spPr>
      </p:pic>
      <p:sp>
        <p:nvSpPr>
          <p:cNvPr id="7" name="Text 4"/>
          <p:cNvSpPr/>
          <p:nvPr/>
        </p:nvSpPr>
        <p:spPr>
          <a:xfrm>
            <a:off x="365760" y="2057400"/>
            <a:ext cx="18288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Prolonged Outages</a:t>
            </a:r>
            <a:endParaRPr lang="en-US" sz="1300" dirty="0"/>
          </a:p>
        </p:txBody>
      </p:sp>
      <p:sp>
        <p:nvSpPr>
          <p:cNvPr id="8" name="Text 5"/>
          <p:cNvSpPr/>
          <p:nvPr/>
        </p:nvSpPr>
        <p:spPr>
          <a:xfrm>
            <a:off x="365760" y="2560320"/>
            <a:ext cx="1828800" cy="2011680"/>
          </a:xfrm>
          <a:prstGeom prst="rect">
            <a:avLst/>
          </a:prstGeom>
          <a:noFill/>
          <a:ln/>
        </p:spPr>
        <p:txBody>
          <a:bodyPr wrap="square" rtlCol="0" anchor="t"/>
          <a:lstStyle/>
          <a:p>
            <a:pPr marL="0" indent="0" algn="ctr">
              <a:buNone/>
            </a:pPr>
            <a:r>
              <a:rPr lang="en-US" sz="1100" dirty="0">
                <a:solidFill>
                  <a:srgbClr val="E2E8F0"/>
                </a:solidFill>
                <a:latin typeface="Calibri" pitchFamily="34" charset="0"/>
                <a:ea typeface="Calibri" pitchFamily="34" charset="-122"/>
                <a:cs typeface="Calibri" pitchFamily="34" charset="-120"/>
              </a:rPr>
              <a:t>Communities &amp; businesses crippled — sometimes for days after theft events.</a:t>
            </a:r>
            <a:endParaRPr lang="en-US" sz="1100" dirty="0"/>
          </a:p>
        </p:txBody>
      </p:sp>
      <p:sp>
        <p:nvSpPr>
          <p:cNvPr id="9" name="Shape 6"/>
          <p:cNvSpPr/>
          <p:nvPr/>
        </p:nvSpPr>
        <p:spPr>
          <a:xfrm>
            <a:off x="2468880" y="1188720"/>
            <a:ext cx="2011680" cy="3566160"/>
          </a:xfrm>
          <a:prstGeom prst="roundRect">
            <a:avLst>
              <a:gd name="adj" fmla="val 4545"/>
            </a:avLst>
          </a:prstGeom>
          <a:solidFill>
            <a:srgbClr val="1A2A45"/>
          </a:solidFill>
          <a:ln/>
          <a:effectLst>
            <a:outerShdw blurRad="127000" dist="38100" dir="2700000" algn="bl" rotWithShape="0">
              <a:srgbClr val="000000">
                <a:alpha val="25000"/>
              </a:srgbClr>
            </a:outerShdw>
          </a:effectLst>
        </p:spPr>
      </p:sp>
      <p:pic>
        <p:nvPicPr>
          <p:cNvPr id="10" name="Image 1" descr="preencoded.png"/>
          <p:cNvPicPr>
            <a:picLocks noChangeAspect="1"/>
          </p:cNvPicPr>
          <p:nvPr/>
        </p:nvPicPr>
        <p:blipFill>
          <a:blip r:embed="rId4"/>
          <a:stretch>
            <a:fillRect/>
          </a:stretch>
        </p:blipFill>
        <p:spPr>
          <a:xfrm>
            <a:off x="3218688" y="1463040"/>
            <a:ext cx="502920" cy="502920"/>
          </a:xfrm>
          <a:prstGeom prst="rect">
            <a:avLst/>
          </a:prstGeom>
        </p:spPr>
      </p:pic>
      <p:sp>
        <p:nvSpPr>
          <p:cNvPr id="11" name="Text 7"/>
          <p:cNvSpPr/>
          <p:nvPr/>
        </p:nvSpPr>
        <p:spPr>
          <a:xfrm>
            <a:off x="2560320" y="2057400"/>
            <a:ext cx="18288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Financial Loss</a:t>
            </a:r>
            <a:endParaRPr lang="en-US" sz="1300" dirty="0"/>
          </a:p>
        </p:txBody>
      </p:sp>
      <p:sp>
        <p:nvSpPr>
          <p:cNvPr id="12" name="Text 8"/>
          <p:cNvSpPr/>
          <p:nvPr/>
        </p:nvSpPr>
        <p:spPr>
          <a:xfrm>
            <a:off x="2560320" y="2560320"/>
            <a:ext cx="1828800" cy="2011680"/>
          </a:xfrm>
          <a:prstGeom prst="rect">
            <a:avLst/>
          </a:prstGeom>
          <a:noFill/>
          <a:ln/>
        </p:spPr>
        <p:txBody>
          <a:bodyPr wrap="square" rtlCol="0" anchor="t"/>
          <a:lstStyle/>
          <a:p>
            <a:pPr marL="0" indent="0" algn="ctr">
              <a:buNone/>
            </a:pPr>
            <a:r>
              <a:rPr lang="en-US" sz="1100" dirty="0">
                <a:solidFill>
                  <a:srgbClr val="E2E8F0"/>
                </a:solidFill>
                <a:latin typeface="Calibri" pitchFamily="34" charset="0"/>
                <a:ea typeface="Calibri" pitchFamily="34" charset="-122"/>
                <a:cs typeface="Calibri" pitchFamily="34" charset="-120"/>
              </a:rPr>
              <a:t>Millions lost by municipalities in replacement costs and lost revenue.</a:t>
            </a:r>
            <a:endParaRPr lang="en-US" sz="1100" dirty="0"/>
          </a:p>
        </p:txBody>
      </p:sp>
      <p:sp>
        <p:nvSpPr>
          <p:cNvPr id="13" name="Shape 9"/>
          <p:cNvSpPr/>
          <p:nvPr/>
        </p:nvSpPr>
        <p:spPr>
          <a:xfrm>
            <a:off x="4663440" y="1188720"/>
            <a:ext cx="2011680" cy="3566160"/>
          </a:xfrm>
          <a:prstGeom prst="roundRect">
            <a:avLst>
              <a:gd name="adj" fmla="val 4545"/>
            </a:avLst>
          </a:prstGeom>
          <a:solidFill>
            <a:srgbClr val="1A2A45"/>
          </a:solidFill>
          <a:ln/>
          <a:effectLst>
            <a:outerShdw blurRad="127000" dist="38100" dir="2700000" algn="bl" rotWithShape="0">
              <a:srgbClr val="000000">
                <a:alpha val="25000"/>
              </a:srgbClr>
            </a:outerShdw>
          </a:effectLst>
        </p:spPr>
      </p:sp>
      <p:pic>
        <p:nvPicPr>
          <p:cNvPr id="14" name="Image 2" descr="preencoded.png"/>
          <p:cNvPicPr>
            <a:picLocks noChangeAspect="1"/>
          </p:cNvPicPr>
          <p:nvPr/>
        </p:nvPicPr>
        <p:blipFill>
          <a:blip r:embed="rId5"/>
          <a:stretch>
            <a:fillRect/>
          </a:stretch>
        </p:blipFill>
        <p:spPr>
          <a:xfrm>
            <a:off x="5413248" y="1463040"/>
            <a:ext cx="502920" cy="502920"/>
          </a:xfrm>
          <a:prstGeom prst="rect">
            <a:avLst/>
          </a:prstGeom>
        </p:spPr>
      </p:pic>
      <p:sp>
        <p:nvSpPr>
          <p:cNvPr id="15" name="Text 10"/>
          <p:cNvSpPr/>
          <p:nvPr/>
        </p:nvSpPr>
        <p:spPr>
          <a:xfrm>
            <a:off x="4754880" y="2057400"/>
            <a:ext cx="18288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Safety Hazards</a:t>
            </a:r>
            <a:endParaRPr lang="en-US" sz="1300" dirty="0"/>
          </a:p>
        </p:txBody>
      </p:sp>
      <p:sp>
        <p:nvSpPr>
          <p:cNvPr id="16" name="Text 11"/>
          <p:cNvSpPr/>
          <p:nvPr/>
        </p:nvSpPr>
        <p:spPr>
          <a:xfrm>
            <a:off x="4754880" y="2560320"/>
            <a:ext cx="1828800" cy="2011680"/>
          </a:xfrm>
          <a:prstGeom prst="rect">
            <a:avLst/>
          </a:prstGeom>
          <a:noFill/>
          <a:ln/>
        </p:spPr>
        <p:txBody>
          <a:bodyPr wrap="square" rtlCol="0" anchor="t"/>
          <a:lstStyle/>
          <a:p>
            <a:pPr marL="0" indent="0" algn="ctr">
              <a:buNone/>
            </a:pPr>
            <a:r>
              <a:rPr lang="en-US" sz="1100" dirty="0">
                <a:solidFill>
                  <a:srgbClr val="E2E8F0"/>
                </a:solidFill>
                <a:latin typeface="Calibri" pitchFamily="34" charset="0"/>
                <a:ea typeface="Calibri" pitchFamily="34" charset="-122"/>
                <a:cs typeface="Calibri" pitchFamily="34" charset="-120"/>
              </a:rPr>
              <a:t>Exposed live wires cause fatal electrocutions and widespread grid fires.</a:t>
            </a:r>
            <a:endParaRPr lang="en-US" sz="1100" dirty="0"/>
          </a:p>
        </p:txBody>
      </p:sp>
      <p:sp>
        <p:nvSpPr>
          <p:cNvPr id="17" name="Shape 12"/>
          <p:cNvSpPr/>
          <p:nvPr/>
        </p:nvSpPr>
        <p:spPr>
          <a:xfrm>
            <a:off x="6858000" y="1188720"/>
            <a:ext cx="2011680" cy="3566160"/>
          </a:xfrm>
          <a:prstGeom prst="roundRect">
            <a:avLst>
              <a:gd name="adj" fmla="val 4545"/>
            </a:avLst>
          </a:prstGeom>
          <a:solidFill>
            <a:srgbClr val="1A2A45"/>
          </a:solidFill>
          <a:ln/>
          <a:effectLst>
            <a:outerShdw blurRad="127000" dist="38100" dir="2700000" algn="bl" rotWithShape="0">
              <a:srgbClr val="000000">
                <a:alpha val="25000"/>
              </a:srgbClr>
            </a:outerShdw>
          </a:effectLst>
        </p:spPr>
      </p:sp>
      <p:pic>
        <p:nvPicPr>
          <p:cNvPr id="18" name="Image 3" descr="preencoded.png"/>
          <p:cNvPicPr>
            <a:picLocks noChangeAspect="1"/>
          </p:cNvPicPr>
          <p:nvPr/>
        </p:nvPicPr>
        <p:blipFill>
          <a:blip r:embed="rId6"/>
          <a:stretch>
            <a:fillRect/>
          </a:stretch>
        </p:blipFill>
        <p:spPr>
          <a:xfrm>
            <a:off x="7607808" y="1463040"/>
            <a:ext cx="502920" cy="502920"/>
          </a:xfrm>
          <a:prstGeom prst="rect">
            <a:avLst/>
          </a:prstGeom>
        </p:spPr>
      </p:pic>
      <p:sp>
        <p:nvSpPr>
          <p:cNvPr id="19" name="Text 13"/>
          <p:cNvSpPr/>
          <p:nvPr/>
        </p:nvSpPr>
        <p:spPr>
          <a:xfrm>
            <a:off x="6949440" y="2057400"/>
            <a:ext cx="18288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Reactive Response</a:t>
            </a:r>
            <a:endParaRPr lang="en-US" sz="1300" dirty="0"/>
          </a:p>
        </p:txBody>
      </p:sp>
      <p:sp>
        <p:nvSpPr>
          <p:cNvPr id="20" name="Text 14"/>
          <p:cNvSpPr/>
          <p:nvPr/>
        </p:nvSpPr>
        <p:spPr>
          <a:xfrm>
            <a:off x="6949440" y="2560320"/>
            <a:ext cx="1828800" cy="2011680"/>
          </a:xfrm>
          <a:prstGeom prst="rect">
            <a:avLst/>
          </a:prstGeom>
          <a:noFill/>
          <a:ln/>
        </p:spPr>
        <p:txBody>
          <a:bodyPr wrap="square" rtlCol="0" anchor="t"/>
          <a:lstStyle/>
          <a:p>
            <a:pPr marL="0" indent="0" algn="ctr">
              <a:buNone/>
            </a:pPr>
            <a:r>
              <a:rPr lang="en-US" sz="1100" dirty="0">
                <a:solidFill>
                  <a:srgbClr val="E2E8F0"/>
                </a:solidFill>
                <a:latin typeface="Calibri" pitchFamily="34" charset="0"/>
                <a:ea typeface="Calibri" pitchFamily="34" charset="-122"/>
                <a:cs typeface="Calibri" pitchFamily="34" charset="-120"/>
              </a:rPr>
              <a:t>Theft discovered only after frustrated residents report outages hours later.</a:t>
            </a:r>
            <a:endParaRPr lang="en-US" sz="1100" dirty="0"/>
          </a:p>
        </p:txBody>
      </p:sp>
      <p:sp>
        <p:nvSpPr>
          <p:cNvPr id="21" name="Shape 15"/>
          <p:cNvSpPr/>
          <p:nvPr/>
        </p:nvSpPr>
        <p:spPr>
          <a:xfrm>
            <a:off x="274320" y="4663440"/>
            <a:ext cx="8595360" cy="347472"/>
          </a:xfrm>
          <a:prstGeom prst="roundRect">
            <a:avLst>
              <a:gd name="adj" fmla="val 13158"/>
            </a:avLst>
          </a:prstGeom>
          <a:solidFill>
            <a:srgbClr val="0D9488">
              <a:alpha val="20000"/>
            </a:srgbClr>
          </a:solidFill>
          <a:ln/>
        </p:spPr>
      </p:sp>
      <p:sp>
        <p:nvSpPr>
          <p:cNvPr id="22" name="Text 16"/>
          <p:cNvSpPr/>
          <p:nvPr/>
        </p:nvSpPr>
        <p:spPr>
          <a:xfrm>
            <a:off x="457200" y="4663440"/>
            <a:ext cx="8321040" cy="347472"/>
          </a:xfrm>
          <a:prstGeom prst="rect">
            <a:avLst/>
          </a:prstGeom>
          <a:noFill/>
          <a:ln/>
        </p:spPr>
        <p:txBody>
          <a:bodyPr wrap="square" lIns="0" tIns="0" rIns="0" bIns="0" rtlCol="0" anchor="ctr"/>
          <a:lstStyle/>
          <a:p>
            <a:pPr marL="0" indent="0" algn="ctr">
              <a:buNone/>
            </a:pPr>
            <a:r>
              <a:rPr lang="en-US" sz="1100" i="1" dirty="0">
                <a:solidFill>
                  <a:srgbClr val="FCD34D"/>
                </a:solidFill>
              </a:rPr>
              <a:t>Current monitoring relies on public complaints — theft is discovered AFTER the outage, sometimes hours later.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a:effectLst/>
      </p:bgPr>
    </p:bg>
    <p:spTree>
      <p:nvGrpSpPr>
        <p:cNvPr id="1" name=""/>
        <p:cNvGrpSpPr/>
        <p:nvPr/>
      </p:nvGrpSpPr>
      <p:grpSpPr>
        <a:xfrm>
          <a:off x="0" y="0"/>
          <a:ext cx="0" cy="0"/>
          <a:chOff x="0" y="0"/>
          <a:chExt cx="0" cy="0"/>
        </a:xfrm>
      </p:grpSpPr>
      <p:sp>
        <p:nvSpPr>
          <p:cNvPr id="3" name="Text 1"/>
          <p:cNvSpPr/>
          <p:nvPr/>
        </p:nvSpPr>
        <p:spPr>
          <a:xfrm>
            <a:off x="457200" y="0"/>
            <a:ext cx="8229600" cy="384048"/>
          </a:xfrm>
          <a:prstGeom prst="rect">
            <a:avLst/>
          </a:prstGeom>
          <a:noFill/>
          <a:ln/>
        </p:spPr>
        <p:txBody>
          <a:bodyPr wrap="square" lIns="0" tIns="0" rIns="0" bIns="0" rtlCol="0" anchor="b"/>
          <a:lstStyle/>
          <a:p>
            <a:pPr marL="0" indent="0">
              <a:buNone/>
            </a:pPr>
            <a:r>
              <a:rPr lang="en-US" sz="1100" b="1" kern="0" spc="400" dirty="0">
                <a:solidFill>
                  <a:srgbClr val="0D9488"/>
                </a:solidFill>
              </a:rPr>
              <a:t>THE SOLUTION</a:t>
            </a:r>
            <a:endParaRPr lang="en-US" sz="1100" dirty="0"/>
          </a:p>
        </p:txBody>
      </p:sp>
      <p:sp>
        <p:nvSpPr>
          <p:cNvPr id="4" name="Text 2"/>
          <p:cNvSpPr/>
          <p:nvPr/>
        </p:nvSpPr>
        <p:spPr>
          <a:xfrm>
            <a:off x="457200" y="347472"/>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Hybrid Smart-Grid Monitoring Network</a:t>
            </a:r>
            <a:endParaRPr lang="en-US" sz="2800" dirty="0"/>
          </a:p>
        </p:txBody>
      </p:sp>
      <p:sp>
        <p:nvSpPr>
          <p:cNvPr id="5" name="Text 3"/>
          <p:cNvSpPr/>
          <p:nvPr/>
        </p:nvSpPr>
        <p:spPr>
          <a:xfrm>
            <a:off x="365760" y="1143000"/>
            <a:ext cx="4114800" cy="365760"/>
          </a:xfrm>
          <a:prstGeom prst="rect">
            <a:avLst/>
          </a:prstGeom>
          <a:noFill/>
          <a:ln/>
        </p:spPr>
        <p:txBody>
          <a:bodyPr wrap="square" rtlCol="0" anchor="ctr"/>
          <a:lstStyle/>
          <a:p>
            <a:pPr marL="0" indent="0">
              <a:buNone/>
            </a:pPr>
            <a:r>
              <a:rPr lang="en-US" sz="1400" dirty="0">
                <a:solidFill>
                  <a:srgbClr val="E2E8F0"/>
                </a:solidFill>
                <a:latin typeface="Calibri" pitchFamily="34" charset="0"/>
                <a:ea typeface="Calibri" pitchFamily="34" charset="-122"/>
                <a:cs typeface="Calibri" pitchFamily="34" charset="-120"/>
              </a:rPr>
              <a:t>A distributed monitoring network combination:</a:t>
            </a:r>
            <a:endParaRPr lang="en-US" sz="1400" dirty="0"/>
          </a:p>
        </p:txBody>
      </p:sp>
      <p:sp>
        <p:nvSpPr>
          <p:cNvPr id="6" name="Text 4"/>
          <p:cNvSpPr/>
          <p:nvPr/>
        </p:nvSpPr>
        <p:spPr>
          <a:xfrm>
            <a:off x="365760" y="1554480"/>
            <a:ext cx="4114800" cy="2286000"/>
          </a:xfrm>
          <a:prstGeom prst="rect">
            <a:avLst/>
          </a:prstGeom>
          <a:noFill/>
          <a:ln/>
        </p:spPr>
        <p:txBody>
          <a:bodyPr wrap="square" rtlCol="0" anchor="ctr"/>
          <a:lstStyle/>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Industrial-grade cable monitoring power supply at transformer level</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Quick response to electrical disruption </a:t>
            </a:r>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Notifies service provider and </a:t>
            </a:r>
            <a:r>
              <a:rPr lang="en-US" sz="1300" dirty="0" err="1">
                <a:solidFill>
                  <a:srgbClr val="E2E8F0"/>
                </a:solidFill>
                <a:latin typeface="Calibri" pitchFamily="34" charset="0"/>
                <a:ea typeface="Calibri" pitchFamily="34" charset="-122"/>
                <a:cs typeface="Calibri" pitchFamily="34" charset="-120"/>
              </a:rPr>
              <a:t>municapalities</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Resident mobile app for real-time notifications</a:t>
            </a:r>
            <a:endParaRPr lang="en-US" sz="1300" dirty="0"/>
          </a:p>
        </p:txBody>
      </p:sp>
      <p:sp>
        <p:nvSpPr>
          <p:cNvPr id="7" name="Shape 5"/>
          <p:cNvSpPr/>
          <p:nvPr/>
        </p:nvSpPr>
        <p:spPr>
          <a:xfrm>
            <a:off x="5486400" y="1097280"/>
            <a:ext cx="3108960" cy="594360"/>
          </a:xfrm>
          <a:prstGeom prst="roundRect">
            <a:avLst>
              <a:gd name="adj" fmla="val 12308"/>
            </a:avLst>
          </a:prstGeom>
          <a:solidFill>
            <a:srgbClr val="0D9488"/>
          </a:solidFill>
          <a:ln/>
          <a:effectLst>
            <a:outerShdw blurRad="127000" dist="38100" dir="2700000" algn="bl" rotWithShape="0">
              <a:srgbClr val="000000">
                <a:alpha val="25000"/>
              </a:srgbClr>
            </a:outerShdw>
          </a:effectLst>
        </p:spPr>
      </p:sp>
      <p:sp>
        <p:nvSpPr>
          <p:cNvPr id="8" name="Text 6"/>
          <p:cNvSpPr/>
          <p:nvPr/>
        </p:nvSpPr>
        <p:spPr>
          <a:xfrm>
            <a:off x="5486400" y="1097280"/>
            <a:ext cx="3108960" cy="594360"/>
          </a:xfrm>
          <a:prstGeom prst="rect">
            <a:avLst/>
          </a:prstGeom>
          <a:noFill/>
          <a:ln/>
        </p:spPr>
        <p:txBody>
          <a:bodyPr wrap="square" lIns="0" tIns="0" rIns="0" bIns="0" rtlCol="0" anchor="ctr"/>
          <a:lstStyle/>
          <a:p>
            <a:pPr marL="0" indent="0" algn="ctr">
              <a:buNone/>
            </a:pPr>
            <a:r>
              <a:rPr lang="en-US" sz="1300" b="1" dirty="0">
                <a:solidFill>
                  <a:srgbClr val="FFFFFF"/>
                </a:solidFill>
              </a:rPr>
              <a:t>Transformer Node</a:t>
            </a:r>
            <a:endParaRPr lang="en-US" sz="1300" dirty="0"/>
          </a:p>
        </p:txBody>
      </p:sp>
      <p:sp>
        <p:nvSpPr>
          <p:cNvPr id="9" name="Text 7"/>
          <p:cNvSpPr/>
          <p:nvPr/>
        </p:nvSpPr>
        <p:spPr>
          <a:xfrm>
            <a:off x="5486400" y="1664208"/>
            <a:ext cx="3108960" cy="274320"/>
          </a:xfrm>
          <a:prstGeom prst="rect">
            <a:avLst/>
          </a:prstGeom>
          <a:noFill/>
          <a:ln/>
        </p:spPr>
        <p:txBody>
          <a:bodyPr wrap="square" rtlCol="0" anchor="ctr"/>
          <a:lstStyle/>
          <a:p>
            <a:pPr marL="0" indent="0" algn="ctr">
              <a:buNone/>
            </a:pPr>
            <a:r>
              <a:rPr lang="en-US" sz="1000" dirty="0">
                <a:solidFill>
                  <a:srgbClr val="94A3B8"/>
                </a:solidFill>
              </a:rPr>
              <a:t>GSM Commander CTM001 + CM2</a:t>
            </a:r>
            <a:endParaRPr lang="en-US" sz="1000" dirty="0"/>
          </a:p>
        </p:txBody>
      </p:sp>
      <p:sp>
        <p:nvSpPr>
          <p:cNvPr id="10" name="Shape 8"/>
          <p:cNvSpPr/>
          <p:nvPr/>
        </p:nvSpPr>
        <p:spPr>
          <a:xfrm>
            <a:off x="7040880" y="1938528"/>
            <a:ext cx="0" cy="320040"/>
          </a:xfrm>
          <a:prstGeom prst="line">
            <a:avLst/>
          </a:prstGeom>
          <a:noFill/>
          <a:ln w="25400">
            <a:solidFill>
              <a:srgbClr val="FCD34D"/>
            </a:solidFill>
            <a:prstDash val="solid"/>
          </a:ln>
        </p:spPr>
      </p:sp>
      <p:sp>
        <p:nvSpPr>
          <p:cNvPr id="11" name="Shape 9"/>
          <p:cNvSpPr/>
          <p:nvPr/>
        </p:nvSpPr>
        <p:spPr>
          <a:xfrm>
            <a:off x="5486400" y="2258568"/>
            <a:ext cx="3108960" cy="457200"/>
          </a:xfrm>
          <a:prstGeom prst="roundRect">
            <a:avLst>
              <a:gd name="adj" fmla="val 12000"/>
            </a:avLst>
          </a:prstGeom>
          <a:solidFill>
            <a:srgbClr val="1A2A45"/>
          </a:solidFill>
          <a:ln w="12700">
            <a:solidFill>
              <a:srgbClr val="F59E0B"/>
            </a:solidFill>
            <a:prstDash val="solid"/>
          </a:ln>
        </p:spPr>
      </p:sp>
      <p:sp>
        <p:nvSpPr>
          <p:cNvPr id="12" name="Text 10"/>
          <p:cNvSpPr/>
          <p:nvPr/>
        </p:nvSpPr>
        <p:spPr>
          <a:xfrm>
            <a:off x="5486400" y="2258568"/>
            <a:ext cx="3108960" cy="457200"/>
          </a:xfrm>
          <a:prstGeom prst="rect">
            <a:avLst/>
          </a:prstGeom>
          <a:noFill/>
          <a:ln/>
        </p:spPr>
        <p:txBody>
          <a:bodyPr wrap="square" lIns="0" tIns="0" rIns="0" bIns="0" rtlCol="0" anchor="ctr"/>
          <a:lstStyle/>
          <a:p>
            <a:pPr marL="0" indent="0" algn="ctr">
              <a:buNone/>
            </a:pPr>
            <a:r>
              <a:rPr lang="en-US" sz="1100" dirty="0">
                <a:solidFill>
                  <a:srgbClr val="FCD34D"/>
                </a:solidFill>
              </a:rPr>
              <a:t>Main Distribution Cable Line</a:t>
            </a:r>
            <a:endParaRPr lang="en-US" sz="1100" dirty="0"/>
          </a:p>
        </p:txBody>
      </p:sp>
      <p:sp>
        <p:nvSpPr>
          <p:cNvPr id="13" name="Shape 11"/>
          <p:cNvSpPr/>
          <p:nvPr/>
        </p:nvSpPr>
        <p:spPr>
          <a:xfrm>
            <a:off x="5897880" y="2715768"/>
            <a:ext cx="0" cy="320040"/>
          </a:xfrm>
          <a:prstGeom prst="line">
            <a:avLst/>
          </a:prstGeom>
          <a:noFill/>
          <a:ln w="25400">
            <a:solidFill>
              <a:srgbClr val="14B8A6"/>
            </a:solidFill>
            <a:prstDash val="solid"/>
          </a:ln>
        </p:spPr>
      </p:sp>
      <p:sp>
        <p:nvSpPr>
          <p:cNvPr id="14" name="Shape 12"/>
          <p:cNvSpPr/>
          <p:nvPr/>
        </p:nvSpPr>
        <p:spPr>
          <a:xfrm>
            <a:off x="8183880" y="2715768"/>
            <a:ext cx="0" cy="320040"/>
          </a:xfrm>
          <a:prstGeom prst="line">
            <a:avLst/>
          </a:prstGeom>
          <a:noFill/>
          <a:ln w="25400">
            <a:solidFill>
              <a:srgbClr val="14B8A6"/>
            </a:solidFill>
            <a:prstDash val="solid"/>
          </a:ln>
        </p:spPr>
      </p:sp>
      <p:sp>
        <p:nvSpPr>
          <p:cNvPr id="15" name="Shape 13"/>
          <p:cNvSpPr/>
          <p:nvPr/>
        </p:nvSpPr>
        <p:spPr>
          <a:xfrm>
            <a:off x="5029200" y="3035808"/>
            <a:ext cx="1645920" cy="548640"/>
          </a:xfrm>
          <a:prstGeom prst="roundRect">
            <a:avLst>
              <a:gd name="adj" fmla="val 13333"/>
            </a:avLst>
          </a:prstGeom>
          <a:solidFill>
            <a:srgbClr val="1A2A45"/>
          </a:solidFill>
          <a:ln w="12700">
            <a:solidFill>
              <a:srgbClr val="14B8A6"/>
            </a:solidFill>
            <a:prstDash val="solid"/>
          </a:ln>
        </p:spPr>
      </p:sp>
      <p:sp>
        <p:nvSpPr>
          <p:cNvPr id="16" name="Text 14"/>
          <p:cNvSpPr/>
          <p:nvPr/>
        </p:nvSpPr>
        <p:spPr>
          <a:xfrm>
            <a:off x="5029200" y="3035808"/>
            <a:ext cx="1645920" cy="548640"/>
          </a:xfrm>
          <a:prstGeom prst="rect">
            <a:avLst/>
          </a:prstGeom>
          <a:noFill/>
          <a:ln/>
        </p:spPr>
        <p:txBody>
          <a:bodyPr wrap="square" lIns="0" tIns="0" rIns="0" bIns="0" rtlCol="0" anchor="ctr"/>
          <a:lstStyle/>
          <a:p>
            <a:pPr marL="0" indent="0" algn="ctr">
              <a:buNone/>
            </a:pPr>
            <a:r>
              <a:rPr lang="en-US" sz="1000" dirty="0">
                <a:solidFill>
                  <a:srgbClr val="14B8A6"/>
                </a:solidFill>
              </a:rPr>
              <a:t>Household A</a:t>
            </a:r>
            <a:endParaRPr lang="en-US" sz="1000" dirty="0"/>
          </a:p>
          <a:p>
            <a:pPr marL="0" indent="0" algn="ctr">
              <a:buNone/>
            </a:pPr>
            <a:r>
              <a:rPr lang="en-US" sz="1000" dirty="0">
                <a:solidFill>
                  <a:srgbClr val="14B8A6"/>
                </a:solidFill>
              </a:rPr>
              <a:t>(ESP32/LoRa)</a:t>
            </a:r>
            <a:endParaRPr lang="en-US" sz="1000" dirty="0"/>
          </a:p>
        </p:txBody>
      </p:sp>
      <p:sp>
        <p:nvSpPr>
          <p:cNvPr id="17" name="Shape 15"/>
          <p:cNvSpPr/>
          <p:nvPr/>
        </p:nvSpPr>
        <p:spPr>
          <a:xfrm>
            <a:off x="7406640" y="3035808"/>
            <a:ext cx="1645920" cy="548640"/>
          </a:xfrm>
          <a:prstGeom prst="roundRect">
            <a:avLst>
              <a:gd name="adj" fmla="val 13333"/>
            </a:avLst>
          </a:prstGeom>
          <a:solidFill>
            <a:srgbClr val="1A2A45"/>
          </a:solidFill>
          <a:ln w="12700">
            <a:solidFill>
              <a:srgbClr val="14B8A6"/>
            </a:solidFill>
            <a:prstDash val="solid"/>
          </a:ln>
        </p:spPr>
      </p:sp>
      <p:sp>
        <p:nvSpPr>
          <p:cNvPr id="18" name="Text 16"/>
          <p:cNvSpPr/>
          <p:nvPr/>
        </p:nvSpPr>
        <p:spPr>
          <a:xfrm>
            <a:off x="7406640" y="3035808"/>
            <a:ext cx="1645920" cy="548640"/>
          </a:xfrm>
          <a:prstGeom prst="rect">
            <a:avLst/>
          </a:prstGeom>
          <a:noFill/>
          <a:ln/>
        </p:spPr>
        <p:txBody>
          <a:bodyPr wrap="square" lIns="0" tIns="0" rIns="0" bIns="0" rtlCol="0" anchor="ctr"/>
          <a:lstStyle/>
          <a:p>
            <a:pPr marL="0" indent="0" algn="ctr">
              <a:buNone/>
            </a:pPr>
            <a:r>
              <a:rPr lang="en-US" sz="1000" dirty="0">
                <a:solidFill>
                  <a:srgbClr val="14B8A6"/>
                </a:solidFill>
              </a:rPr>
              <a:t>Household B</a:t>
            </a:r>
            <a:endParaRPr lang="en-US" sz="1000" dirty="0"/>
          </a:p>
          <a:p>
            <a:pPr marL="0" indent="0" algn="ctr">
              <a:buNone/>
            </a:pPr>
            <a:r>
              <a:rPr lang="en-US" sz="1000" dirty="0">
                <a:solidFill>
                  <a:srgbClr val="14B8A6"/>
                </a:solidFill>
              </a:rPr>
              <a:t>(ESP32/LoRa)</a:t>
            </a:r>
            <a:endParaRPr lang="en-US" sz="1000" dirty="0"/>
          </a:p>
        </p:txBody>
      </p:sp>
      <p:sp>
        <p:nvSpPr>
          <p:cNvPr id="19" name="Shape 17"/>
          <p:cNvSpPr/>
          <p:nvPr/>
        </p:nvSpPr>
        <p:spPr>
          <a:xfrm>
            <a:off x="5852160" y="3749040"/>
            <a:ext cx="2377440" cy="502920"/>
          </a:xfrm>
          <a:prstGeom prst="roundRect">
            <a:avLst>
              <a:gd name="adj" fmla="val 18182"/>
            </a:avLst>
          </a:prstGeom>
          <a:solidFill>
            <a:srgbClr val="F59E0B">
              <a:alpha val="80000"/>
            </a:srgbClr>
          </a:solidFill>
          <a:ln/>
        </p:spPr>
      </p:sp>
      <p:sp>
        <p:nvSpPr>
          <p:cNvPr id="20" name="Text 18"/>
          <p:cNvSpPr/>
          <p:nvPr/>
        </p:nvSpPr>
        <p:spPr>
          <a:xfrm>
            <a:off x="5852160" y="3749040"/>
            <a:ext cx="2377440" cy="502920"/>
          </a:xfrm>
          <a:prstGeom prst="rect">
            <a:avLst/>
          </a:prstGeom>
          <a:noFill/>
          <a:ln/>
        </p:spPr>
        <p:txBody>
          <a:bodyPr wrap="square" lIns="0" tIns="0" rIns="0" bIns="0" rtlCol="0" anchor="ctr"/>
          <a:lstStyle/>
          <a:p>
            <a:pPr marL="0" indent="0" algn="ctr">
              <a:buNone/>
            </a:pPr>
            <a:r>
              <a:rPr lang="en-US" sz="1100" b="1" dirty="0">
                <a:solidFill>
                  <a:srgbClr val="0B1120"/>
                </a:solidFill>
              </a:rPr>
              <a:t>☁  AI Cloud Dashboard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1F35"/>
          </a:solidFill>
          <a:ln/>
        </p:spPr>
      </p:sp>
      <p:sp>
        <p:nvSpPr>
          <p:cNvPr id="3" name="Text 1"/>
          <p:cNvSpPr/>
          <p:nvPr/>
        </p:nvSpPr>
        <p:spPr>
          <a:xfrm>
            <a:off x="457200" y="0"/>
            <a:ext cx="8229600" cy="365760"/>
          </a:xfrm>
          <a:prstGeom prst="rect">
            <a:avLst/>
          </a:prstGeom>
          <a:noFill/>
          <a:ln/>
        </p:spPr>
        <p:txBody>
          <a:bodyPr wrap="square" lIns="0" tIns="0" rIns="0" bIns="0" rtlCol="0" anchor="b"/>
          <a:lstStyle/>
          <a:p>
            <a:pPr marL="0" indent="0">
              <a:buNone/>
            </a:pPr>
            <a:r>
              <a:rPr lang="en-US" sz="1100" b="1" kern="0" spc="400" dirty="0">
                <a:solidFill>
                  <a:srgbClr val="0D9488"/>
                </a:solidFill>
              </a:rPr>
              <a:t>HARDWARE</a:t>
            </a:r>
            <a:endParaRPr lang="en-US" sz="1100" dirty="0"/>
          </a:p>
        </p:txBody>
      </p:sp>
      <p:sp>
        <p:nvSpPr>
          <p:cNvPr id="4" name="Text 2"/>
          <p:cNvSpPr/>
          <p:nvPr/>
        </p:nvSpPr>
        <p:spPr>
          <a:xfrm>
            <a:off x="457200" y="347472"/>
            <a:ext cx="8229600" cy="59436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Technology Powering Hybrid Smart-Grid </a:t>
            </a:r>
            <a:endParaRPr lang="en-US" sz="2600" dirty="0"/>
          </a:p>
        </p:txBody>
      </p:sp>
      <p:sp>
        <p:nvSpPr>
          <p:cNvPr id="5" name="Shape 3"/>
          <p:cNvSpPr/>
          <p:nvPr/>
        </p:nvSpPr>
        <p:spPr>
          <a:xfrm>
            <a:off x="274320" y="1051560"/>
            <a:ext cx="2743200" cy="3840480"/>
          </a:xfrm>
          <a:prstGeom prst="roundRect">
            <a:avLst>
              <a:gd name="adj" fmla="val 4000"/>
            </a:avLst>
          </a:prstGeom>
          <a:solidFill>
            <a:srgbClr val="1A2A45"/>
          </a:solidFill>
          <a:ln/>
          <a:effectLst>
            <a:outerShdw blurRad="127000" dist="38100" dir="2700000" algn="bl" rotWithShape="0">
              <a:srgbClr val="000000">
                <a:alpha val="25000"/>
              </a:srgbClr>
            </a:outerShdw>
          </a:effectLst>
        </p:spPr>
      </p:sp>
      <p:pic>
        <p:nvPicPr>
          <p:cNvPr id="6" name="Image 0" descr="preencoded.png"/>
          <p:cNvPicPr>
            <a:picLocks noChangeAspect="1"/>
          </p:cNvPicPr>
          <p:nvPr/>
        </p:nvPicPr>
        <p:blipFill>
          <a:blip r:embed="rId3"/>
          <a:stretch>
            <a:fillRect/>
          </a:stretch>
        </p:blipFill>
        <p:spPr>
          <a:xfrm>
            <a:off x="1280160" y="1280160"/>
            <a:ext cx="731520" cy="731520"/>
          </a:xfrm>
          <a:prstGeom prst="rect">
            <a:avLst/>
          </a:prstGeom>
        </p:spPr>
      </p:pic>
      <p:sp>
        <p:nvSpPr>
          <p:cNvPr id="7" name="Text 4"/>
          <p:cNvSpPr/>
          <p:nvPr/>
        </p:nvSpPr>
        <p:spPr>
          <a:xfrm>
            <a:off x="365760" y="2057400"/>
            <a:ext cx="25603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GSM Commander CTM001</a:t>
            </a:r>
            <a:endParaRPr lang="en-US" sz="1300" dirty="0"/>
          </a:p>
        </p:txBody>
      </p:sp>
      <p:sp>
        <p:nvSpPr>
          <p:cNvPr id="8" name="Text 5"/>
          <p:cNvSpPr/>
          <p:nvPr/>
        </p:nvSpPr>
        <p:spPr>
          <a:xfrm>
            <a:off x="365760" y="2487168"/>
            <a:ext cx="2560320" cy="274320"/>
          </a:xfrm>
          <a:prstGeom prst="rect">
            <a:avLst/>
          </a:prstGeom>
          <a:noFill/>
          <a:ln/>
        </p:spPr>
        <p:txBody>
          <a:bodyPr wrap="square" rtlCol="0" anchor="ctr"/>
          <a:lstStyle/>
          <a:p>
            <a:pPr marL="0" indent="0" algn="ctr">
              <a:buNone/>
            </a:pPr>
            <a:r>
              <a:rPr lang="en-US" sz="1000" i="1" dirty="0">
                <a:solidFill>
                  <a:srgbClr val="F59E0B"/>
                </a:solidFill>
              </a:rPr>
              <a:t>Transformer Node</a:t>
            </a:r>
            <a:endParaRPr lang="en-US" sz="1000" dirty="0"/>
          </a:p>
        </p:txBody>
      </p:sp>
      <p:sp>
        <p:nvSpPr>
          <p:cNvPr id="9" name="Text 6"/>
          <p:cNvSpPr/>
          <p:nvPr/>
        </p:nvSpPr>
        <p:spPr>
          <a:xfrm>
            <a:off x="411480" y="2788920"/>
            <a:ext cx="2468880" cy="1920240"/>
          </a:xfrm>
          <a:prstGeom prst="rect">
            <a:avLst/>
          </a:prstGeom>
          <a:noFill/>
          <a:ln/>
        </p:spPr>
        <p:txBody>
          <a:bodyPr wrap="square" rtlCol="0" anchor="ctr"/>
          <a:lstStyle/>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AC load monitoring</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DC continuity pulse injection</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Dual-SIM cellular comms</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Battery-backed — works during outages</a:t>
            </a:r>
            <a:endParaRPr lang="en-US" sz="1100" dirty="0"/>
          </a:p>
        </p:txBody>
      </p:sp>
      <p:sp>
        <p:nvSpPr>
          <p:cNvPr id="10" name="Shape 7"/>
          <p:cNvSpPr/>
          <p:nvPr/>
        </p:nvSpPr>
        <p:spPr>
          <a:xfrm>
            <a:off x="3200400" y="1051560"/>
            <a:ext cx="2743200" cy="3840480"/>
          </a:xfrm>
          <a:prstGeom prst="roundRect">
            <a:avLst>
              <a:gd name="adj" fmla="val 4000"/>
            </a:avLst>
          </a:prstGeom>
          <a:solidFill>
            <a:srgbClr val="1A2A45"/>
          </a:solidFill>
          <a:ln/>
          <a:effectLst>
            <a:outerShdw blurRad="127000" dist="38100" dir="2700000" algn="bl" rotWithShape="0">
              <a:srgbClr val="000000">
                <a:alpha val="25000"/>
              </a:srgbClr>
            </a:outerShdw>
          </a:effectLst>
        </p:spPr>
      </p:sp>
      <p:pic>
        <p:nvPicPr>
          <p:cNvPr id="11" name="Image 1" descr="preencoded.png"/>
          <p:cNvPicPr>
            <a:picLocks noChangeAspect="1"/>
          </p:cNvPicPr>
          <p:nvPr/>
        </p:nvPicPr>
        <p:blipFill>
          <a:blip r:embed="rId4"/>
          <a:stretch>
            <a:fillRect/>
          </a:stretch>
        </p:blipFill>
        <p:spPr>
          <a:xfrm>
            <a:off x="4206240" y="1280160"/>
            <a:ext cx="731520" cy="731520"/>
          </a:xfrm>
          <a:prstGeom prst="rect">
            <a:avLst/>
          </a:prstGeom>
        </p:spPr>
      </p:pic>
      <p:sp>
        <p:nvSpPr>
          <p:cNvPr id="12" name="Text 8"/>
          <p:cNvSpPr/>
          <p:nvPr/>
        </p:nvSpPr>
        <p:spPr>
          <a:xfrm>
            <a:off x="3291840" y="2057400"/>
            <a:ext cx="25603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ESP32 Endpoint Node</a:t>
            </a:r>
            <a:endParaRPr lang="en-US" sz="1300" dirty="0"/>
          </a:p>
        </p:txBody>
      </p:sp>
      <p:sp>
        <p:nvSpPr>
          <p:cNvPr id="13" name="Text 9"/>
          <p:cNvSpPr/>
          <p:nvPr/>
        </p:nvSpPr>
        <p:spPr>
          <a:xfrm>
            <a:off x="3291840" y="2487168"/>
            <a:ext cx="2560320" cy="274320"/>
          </a:xfrm>
          <a:prstGeom prst="rect">
            <a:avLst/>
          </a:prstGeom>
          <a:noFill/>
          <a:ln/>
        </p:spPr>
        <p:txBody>
          <a:bodyPr wrap="square" rtlCol="0" anchor="ctr"/>
          <a:lstStyle/>
          <a:p>
            <a:pPr marL="0" indent="0" algn="ctr">
              <a:buNone/>
            </a:pPr>
            <a:r>
              <a:rPr lang="en-US" sz="1000" i="1" dirty="0">
                <a:solidFill>
                  <a:srgbClr val="14B8A6"/>
                </a:solidFill>
              </a:rPr>
              <a:t>Household Meter Box</a:t>
            </a:r>
            <a:endParaRPr lang="en-US" sz="1000" dirty="0"/>
          </a:p>
        </p:txBody>
      </p:sp>
      <p:sp>
        <p:nvSpPr>
          <p:cNvPr id="14" name="Text 10"/>
          <p:cNvSpPr/>
          <p:nvPr/>
        </p:nvSpPr>
        <p:spPr>
          <a:xfrm>
            <a:off x="3337560" y="2788920"/>
            <a:ext cx="2468880" cy="1920240"/>
          </a:xfrm>
          <a:prstGeom prst="rect">
            <a:avLst/>
          </a:prstGeom>
          <a:noFill/>
          <a:ln/>
        </p:spPr>
        <p:txBody>
          <a:bodyPr wrap="square" rtlCol="0" anchor="ctr"/>
          <a:lstStyle/>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Voltage availability sensing</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Load pattern monitoring</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LoRaWAN / NB-IoT mesh</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Low-cost, scalable deployment</a:t>
            </a:r>
            <a:endParaRPr lang="en-US" sz="1100" dirty="0"/>
          </a:p>
        </p:txBody>
      </p:sp>
      <p:sp>
        <p:nvSpPr>
          <p:cNvPr id="15" name="Shape 11"/>
          <p:cNvSpPr/>
          <p:nvPr/>
        </p:nvSpPr>
        <p:spPr>
          <a:xfrm>
            <a:off x="6126480" y="1051560"/>
            <a:ext cx="2743200" cy="3840480"/>
          </a:xfrm>
          <a:prstGeom prst="roundRect">
            <a:avLst>
              <a:gd name="adj" fmla="val 4000"/>
            </a:avLst>
          </a:prstGeom>
          <a:solidFill>
            <a:srgbClr val="1A2A45"/>
          </a:solidFill>
          <a:ln/>
          <a:effectLst>
            <a:outerShdw blurRad="127000" dist="38100" dir="2700000" algn="bl" rotWithShape="0">
              <a:srgbClr val="000000">
                <a:alpha val="25000"/>
              </a:srgbClr>
            </a:outerShdw>
          </a:effectLst>
        </p:spPr>
      </p:sp>
      <p:pic>
        <p:nvPicPr>
          <p:cNvPr id="16" name="Image 2" descr="preencoded.png"/>
          <p:cNvPicPr>
            <a:picLocks noChangeAspect="1"/>
          </p:cNvPicPr>
          <p:nvPr/>
        </p:nvPicPr>
        <p:blipFill>
          <a:blip r:embed="rId5"/>
          <a:stretch>
            <a:fillRect/>
          </a:stretch>
        </p:blipFill>
        <p:spPr>
          <a:xfrm>
            <a:off x="7132320" y="1280160"/>
            <a:ext cx="731520" cy="731520"/>
          </a:xfrm>
          <a:prstGeom prst="rect">
            <a:avLst/>
          </a:prstGeom>
        </p:spPr>
      </p:pic>
      <p:sp>
        <p:nvSpPr>
          <p:cNvPr id="17" name="Text 12"/>
          <p:cNvSpPr/>
          <p:nvPr/>
        </p:nvSpPr>
        <p:spPr>
          <a:xfrm>
            <a:off x="6217920" y="2057400"/>
            <a:ext cx="25603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 Cloud Platform</a:t>
            </a:r>
            <a:endParaRPr lang="en-US" sz="1300" dirty="0"/>
          </a:p>
        </p:txBody>
      </p:sp>
      <p:sp>
        <p:nvSpPr>
          <p:cNvPr id="18" name="Text 13"/>
          <p:cNvSpPr/>
          <p:nvPr/>
        </p:nvSpPr>
        <p:spPr>
          <a:xfrm>
            <a:off x="6217920" y="2487168"/>
            <a:ext cx="2560320" cy="274320"/>
          </a:xfrm>
          <a:prstGeom prst="rect">
            <a:avLst/>
          </a:prstGeom>
          <a:noFill/>
          <a:ln/>
        </p:spPr>
        <p:txBody>
          <a:bodyPr wrap="square" rtlCol="0" anchor="ctr"/>
          <a:lstStyle/>
          <a:p>
            <a:pPr marL="0" indent="0" algn="ctr">
              <a:buNone/>
            </a:pPr>
            <a:r>
              <a:rPr lang="en-US" sz="1000" i="1" dirty="0">
                <a:solidFill>
                  <a:srgbClr val="FCD34D"/>
                </a:solidFill>
              </a:rPr>
              <a:t>Analytics &amp; Dashboard</a:t>
            </a:r>
            <a:endParaRPr lang="en-US" sz="1000" dirty="0"/>
          </a:p>
        </p:txBody>
      </p:sp>
      <p:sp>
        <p:nvSpPr>
          <p:cNvPr id="19" name="Text 14"/>
          <p:cNvSpPr/>
          <p:nvPr/>
        </p:nvSpPr>
        <p:spPr>
          <a:xfrm>
            <a:off x="6263640" y="2788920"/>
            <a:ext cx="2468880" cy="1920240"/>
          </a:xfrm>
          <a:prstGeom prst="rect">
            <a:avLst/>
          </a:prstGeom>
          <a:noFill/>
          <a:ln/>
        </p:spPr>
        <p:txBody>
          <a:bodyPr wrap="square" rtlCol="0" anchor="ctr"/>
          <a:lstStyle/>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Real-time theft classification</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Predictive risk mapping</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Outage hotspot visualization</a:t>
            </a:r>
            <a:endParaRPr lang="en-US" sz="1100" dirty="0"/>
          </a:p>
          <a:p>
            <a:pPr marL="342900" indent="-342900">
              <a:spcAft>
                <a:spcPts val="500"/>
              </a:spcAft>
              <a:buSzPct val="100000"/>
              <a:buChar char="•"/>
            </a:pPr>
            <a:r>
              <a:rPr lang="en-US" sz="1100" dirty="0">
                <a:solidFill>
                  <a:srgbClr val="E2E8F0"/>
                </a:solidFill>
                <a:latin typeface="Calibri" pitchFamily="34" charset="0"/>
                <a:ea typeface="Calibri" pitchFamily="34" charset="-122"/>
                <a:cs typeface="Calibri" pitchFamily="34" charset="-120"/>
              </a:rPr>
              <a:t>Resident mobile app alerts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1F35"/>
          </a:solidFill>
          <a:ln/>
        </p:spPr>
      </p:sp>
      <p:sp>
        <p:nvSpPr>
          <p:cNvPr id="3" name="Text 1"/>
          <p:cNvSpPr/>
          <p:nvPr/>
        </p:nvSpPr>
        <p:spPr>
          <a:xfrm>
            <a:off x="457200" y="0"/>
            <a:ext cx="8229600" cy="365760"/>
          </a:xfrm>
          <a:prstGeom prst="rect">
            <a:avLst/>
          </a:prstGeom>
          <a:noFill/>
          <a:ln/>
        </p:spPr>
        <p:txBody>
          <a:bodyPr wrap="square" lIns="0" tIns="0" rIns="0" bIns="0" rtlCol="0" anchor="b"/>
          <a:lstStyle/>
          <a:p>
            <a:pPr marL="0" indent="0">
              <a:buNone/>
            </a:pPr>
            <a:r>
              <a:rPr lang="en-US" sz="1100" b="1" kern="0" spc="400" dirty="0">
                <a:solidFill>
                  <a:srgbClr val="F59E0B"/>
                </a:solidFill>
              </a:rPr>
              <a:t>VALUE PROPOSITION</a:t>
            </a:r>
            <a:endParaRPr lang="en-US" sz="1100" dirty="0"/>
          </a:p>
        </p:txBody>
      </p:sp>
      <p:sp>
        <p:nvSpPr>
          <p:cNvPr id="4" name="Text 2"/>
          <p:cNvSpPr/>
          <p:nvPr/>
        </p:nvSpPr>
        <p:spPr>
          <a:xfrm>
            <a:off x="457200" y="347472"/>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Why Choose GridGuard AI?</a:t>
            </a:r>
            <a:endParaRPr lang="en-US" sz="2800" dirty="0"/>
          </a:p>
        </p:txBody>
      </p:sp>
      <p:sp>
        <p:nvSpPr>
          <p:cNvPr id="5" name="Shape 3"/>
          <p:cNvSpPr/>
          <p:nvPr/>
        </p:nvSpPr>
        <p:spPr>
          <a:xfrm>
            <a:off x="274320" y="1097280"/>
            <a:ext cx="2743200" cy="1371600"/>
          </a:xfrm>
          <a:prstGeom prst="roundRect">
            <a:avLst>
              <a:gd name="adj" fmla="val 6667"/>
            </a:avLst>
          </a:prstGeom>
          <a:solidFill>
            <a:srgbClr val="1A2A45"/>
          </a:solidFill>
          <a:ln/>
          <a:effectLst>
            <a:outerShdw blurRad="127000" dist="38100" dir="2700000" algn="bl" rotWithShape="0">
              <a:srgbClr val="000000">
                <a:alpha val="25000"/>
              </a:srgbClr>
            </a:outerShdw>
          </a:effectLst>
        </p:spPr>
      </p:sp>
      <p:sp>
        <p:nvSpPr>
          <p:cNvPr id="6" name="Text 4"/>
          <p:cNvSpPr/>
          <p:nvPr/>
        </p:nvSpPr>
        <p:spPr>
          <a:xfrm>
            <a:off x="274320" y="1170432"/>
            <a:ext cx="2743200" cy="685800"/>
          </a:xfrm>
          <a:prstGeom prst="rect">
            <a:avLst/>
          </a:prstGeom>
          <a:noFill/>
          <a:ln/>
        </p:spPr>
        <p:txBody>
          <a:bodyPr wrap="square" rtlCol="0" anchor="ctr"/>
          <a:lstStyle/>
          <a:p>
            <a:pPr marL="0" indent="0" algn="ctr">
              <a:buNone/>
            </a:pPr>
            <a:r>
              <a:rPr lang="en-US" sz="3600" b="1" dirty="0">
                <a:solidFill>
                  <a:srgbClr val="FCD34D"/>
                </a:solidFill>
                <a:latin typeface="Cambria" pitchFamily="34" charset="0"/>
                <a:ea typeface="Cambria" pitchFamily="34" charset="-122"/>
                <a:cs typeface="Cambria" pitchFamily="34" charset="-120"/>
              </a:rPr>
              <a:t>&lt; 15s</a:t>
            </a:r>
            <a:endParaRPr lang="en-US" sz="3600" dirty="0"/>
          </a:p>
        </p:txBody>
      </p:sp>
      <p:sp>
        <p:nvSpPr>
          <p:cNvPr id="7" name="Text 5"/>
          <p:cNvSpPr/>
          <p:nvPr/>
        </p:nvSpPr>
        <p:spPr>
          <a:xfrm>
            <a:off x="274320" y="1828800"/>
            <a:ext cx="2743200" cy="274320"/>
          </a:xfrm>
          <a:prstGeom prst="rect">
            <a:avLst/>
          </a:prstGeom>
          <a:noFill/>
          <a:ln/>
        </p:spPr>
        <p:txBody>
          <a:bodyPr wrap="square" rtlCol="0" anchor="ctr"/>
          <a:lstStyle/>
          <a:p>
            <a:pPr marL="0" indent="0" algn="ctr">
              <a:buNone/>
            </a:pPr>
            <a:r>
              <a:rPr lang="en-US" sz="1200" b="1" dirty="0">
                <a:solidFill>
                  <a:srgbClr val="FFFFFF"/>
                </a:solidFill>
              </a:rPr>
              <a:t>Detection Time</a:t>
            </a:r>
            <a:endParaRPr lang="en-US" sz="1200" dirty="0"/>
          </a:p>
        </p:txBody>
      </p:sp>
      <p:sp>
        <p:nvSpPr>
          <p:cNvPr id="8" name="Text 6"/>
          <p:cNvSpPr/>
          <p:nvPr/>
        </p:nvSpPr>
        <p:spPr>
          <a:xfrm>
            <a:off x="274320" y="2103120"/>
            <a:ext cx="2743200" cy="256032"/>
          </a:xfrm>
          <a:prstGeom prst="rect">
            <a:avLst/>
          </a:prstGeom>
          <a:noFill/>
          <a:ln/>
        </p:spPr>
        <p:txBody>
          <a:bodyPr wrap="square" rtlCol="0" anchor="ctr"/>
          <a:lstStyle/>
          <a:p>
            <a:pPr marL="0" indent="0" algn="ctr">
              <a:buNone/>
            </a:pPr>
            <a:r>
              <a:rPr lang="en-US" sz="1000" i="1" dirty="0">
                <a:solidFill>
                  <a:srgbClr val="94A3B8"/>
                </a:solidFill>
              </a:rPr>
              <a:t>from cable cut to alert</a:t>
            </a:r>
            <a:endParaRPr lang="en-US" sz="1000" dirty="0"/>
          </a:p>
        </p:txBody>
      </p:sp>
      <p:sp>
        <p:nvSpPr>
          <p:cNvPr id="9" name="Shape 7"/>
          <p:cNvSpPr/>
          <p:nvPr/>
        </p:nvSpPr>
        <p:spPr>
          <a:xfrm>
            <a:off x="3200400" y="1097280"/>
            <a:ext cx="2743200" cy="1371600"/>
          </a:xfrm>
          <a:prstGeom prst="roundRect">
            <a:avLst>
              <a:gd name="adj" fmla="val 6667"/>
            </a:avLst>
          </a:prstGeom>
          <a:solidFill>
            <a:srgbClr val="1A2A45"/>
          </a:solidFill>
          <a:ln/>
          <a:effectLst>
            <a:outerShdw blurRad="127000" dist="38100" dir="2700000" algn="bl" rotWithShape="0">
              <a:srgbClr val="000000">
                <a:alpha val="25000"/>
              </a:srgbClr>
            </a:outerShdw>
          </a:effectLst>
        </p:spPr>
      </p:sp>
      <p:sp>
        <p:nvSpPr>
          <p:cNvPr id="10" name="Text 8"/>
          <p:cNvSpPr/>
          <p:nvPr/>
        </p:nvSpPr>
        <p:spPr>
          <a:xfrm>
            <a:off x="3200400" y="1170432"/>
            <a:ext cx="2743200" cy="685800"/>
          </a:xfrm>
          <a:prstGeom prst="rect">
            <a:avLst/>
          </a:prstGeom>
          <a:noFill/>
          <a:ln/>
        </p:spPr>
        <p:txBody>
          <a:bodyPr wrap="square" rtlCol="0" anchor="ctr"/>
          <a:lstStyle/>
          <a:p>
            <a:pPr marL="0" indent="0" algn="ctr">
              <a:buNone/>
            </a:pPr>
            <a:r>
              <a:rPr lang="en-US" sz="3600" b="1" dirty="0">
                <a:solidFill>
                  <a:srgbClr val="FCD34D"/>
                </a:solidFill>
                <a:latin typeface="Cambria" pitchFamily="34" charset="0"/>
                <a:ea typeface="Cambria" pitchFamily="34" charset="-122"/>
                <a:cs typeface="Cambria" pitchFamily="34" charset="-120"/>
              </a:rPr>
              <a:t>24/7</a:t>
            </a:r>
            <a:endParaRPr lang="en-US" sz="3600" dirty="0"/>
          </a:p>
        </p:txBody>
      </p:sp>
      <p:sp>
        <p:nvSpPr>
          <p:cNvPr id="11" name="Text 9"/>
          <p:cNvSpPr/>
          <p:nvPr/>
        </p:nvSpPr>
        <p:spPr>
          <a:xfrm>
            <a:off x="3200400" y="1828800"/>
            <a:ext cx="2743200" cy="274320"/>
          </a:xfrm>
          <a:prstGeom prst="rect">
            <a:avLst/>
          </a:prstGeom>
          <a:noFill/>
          <a:ln/>
        </p:spPr>
        <p:txBody>
          <a:bodyPr wrap="square" rtlCol="0" anchor="ctr"/>
          <a:lstStyle/>
          <a:p>
            <a:pPr marL="0" indent="0" algn="ctr">
              <a:buNone/>
            </a:pPr>
            <a:r>
              <a:rPr lang="en-US" sz="1200" b="1" dirty="0">
                <a:solidFill>
                  <a:srgbClr val="FFFFFF"/>
                </a:solidFill>
              </a:rPr>
              <a:t>Monitoring</a:t>
            </a:r>
            <a:endParaRPr lang="en-US" sz="1200" dirty="0"/>
          </a:p>
        </p:txBody>
      </p:sp>
      <p:sp>
        <p:nvSpPr>
          <p:cNvPr id="12" name="Text 10"/>
          <p:cNvSpPr/>
          <p:nvPr/>
        </p:nvSpPr>
        <p:spPr>
          <a:xfrm>
            <a:off x="3200400" y="2103120"/>
            <a:ext cx="2743200" cy="256032"/>
          </a:xfrm>
          <a:prstGeom prst="rect">
            <a:avLst/>
          </a:prstGeom>
          <a:noFill/>
          <a:ln/>
        </p:spPr>
        <p:txBody>
          <a:bodyPr wrap="square" rtlCol="0" anchor="ctr"/>
          <a:lstStyle/>
          <a:p>
            <a:pPr marL="0" indent="0" algn="ctr">
              <a:buNone/>
            </a:pPr>
            <a:r>
              <a:rPr lang="en-US" sz="1000" i="1" dirty="0">
                <a:solidFill>
                  <a:srgbClr val="94A3B8"/>
                </a:solidFill>
              </a:rPr>
              <a:t>even during load shedding</a:t>
            </a:r>
            <a:endParaRPr lang="en-US" sz="1000" dirty="0"/>
          </a:p>
        </p:txBody>
      </p:sp>
      <p:sp>
        <p:nvSpPr>
          <p:cNvPr id="13" name="Shape 11"/>
          <p:cNvSpPr/>
          <p:nvPr/>
        </p:nvSpPr>
        <p:spPr>
          <a:xfrm>
            <a:off x="6126480" y="1097280"/>
            <a:ext cx="2743200" cy="1371600"/>
          </a:xfrm>
          <a:prstGeom prst="roundRect">
            <a:avLst>
              <a:gd name="adj" fmla="val 6667"/>
            </a:avLst>
          </a:prstGeom>
          <a:solidFill>
            <a:srgbClr val="1A2A45"/>
          </a:solidFill>
          <a:ln/>
          <a:effectLst>
            <a:outerShdw blurRad="127000" dist="38100" dir="2700000" algn="bl" rotWithShape="0">
              <a:srgbClr val="000000">
                <a:alpha val="25000"/>
              </a:srgbClr>
            </a:outerShdw>
          </a:effectLst>
        </p:spPr>
      </p:sp>
      <p:sp>
        <p:nvSpPr>
          <p:cNvPr id="14" name="Text 12"/>
          <p:cNvSpPr/>
          <p:nvPr/>
        </p:nvSpPr>
        <p:spPr>
          <a:xfrm>
            <a:off x="6126480" y="1170432"/>
            <a:ext cx="2743200" cy="685800"/>
          </a:xfrm>
          <a:prstGeom prst="rect">
            <a:avLst/>
          </a:prstGeom>
          <a:noFill/>
          <a:ln/>
        </p:spPr>
        <p:txBody>
          <a:bodyPr wrap="square" rtlCol="0" anchor="ctr"/>
          <a:lstStyle/>
          <a:p>
            <a:pPr marL="0" indent="0" algn="ctr">
              <a:buNone/>
            </a:pPr>
            <a:r>
              <a:rPr lang="en-US" sz="3600" b="1" dirty="0">
                <a:solidFill>
                  <a:srgbClr val="FCD34D"/>
                </a:solidFill>
                <a:latin typeface="Cambria" pitchFamily="34" charset="0"/>
                <a:ea typeface="Cambria" pitchFamily="34" charset="-122"/>
                <a:cs typeface="Cambria" pitchFamily="34" charset="-120"/>
              </a:rPr>
              <a:t>GPS</a:t>
            </a:r>
            <a:endParaRPr lang="en-US" sz="3600" dirty="0"/>
          </a:p>
        </p:txBody>
      </p:sp>
      <p:sp>
        <p:nvSpPr>
          <p:cNvPr id="15" name="Text 13"/>
          <p:cNvSpPr/>
          <p:nvPr/>
        </p:nvSpPr>
        <p:spPr>
          <a:xfrm>
            <a:off x="6126480" y="1828800"/>
            <a:ext cx="2743200" cy="274320"/>
          </a:xfrm>
          <a:prstGeom prst="rect">
            <a:avLst/>
          </a:prstGeom>
          <a:noFill/>
          <a:ln/>
        </p:spPr>
        <p:txBody>
          <a:bodyPr wrap="square" rtlCol="0" anchor="ctr"/>
          <a:lstStyle/>
          <a:p>
            <a:pPr marL="0" indent="0" algn="ctr">
              <a:buNone/>
            </a:pPr>
            <a:r>
              <a:rPr lang="en-US" sz="1200" b="1" dirty="0">
                <a:solidFill>
                  <a:srgbClr val="FFFFFF"/>
                </a:solidFill>
              </a:rPr>
              <a:t>Fault Localization</a:t>
            </a:r>
            <a:endParaRPr lang="en-US" sz="1200" dirty="0"/>
          </a:p>
        </p:txBody>
      </p:sp>
      <p:sp>
        <p:nvSpPr>
          <p:cNvPr id="16" name="Text 14"/>
          <p:cNvSpPr/>
          <p:nvPr/>
        </p:nvSpPr>
        <p:spPr>
          <a:xfrm>
            <a:off x="6126480" y="2103120"/>
            <a:ext cx="2743200" cy="256032"/>
          </a:xfrm>
          <a:prstGeom prst="rect">
            <a:avLst/>
          </a:prstGeom>
          <a:noFill/>
          <a:ln/>
        </p:spPr>
        <p:txBody>
          <a:bodyPr wrap="square" rtlCol="0" anchor="ctr"/>
          <a:lstStyle/>
          <a:p>
            <a:pPr marL="0" indent="0" algn="ctr">
              <a:buNone/>
            </a:pPr>
            <a:r>
              <a:rPr lang="en-US" sz="1000" i="1" dirty="0">
                <a:solidFill>
                  <a:srgbClr val="94A3B8"/>
                </a:solidFill>
              </a:rPr>
              <a:t>narrows search to meters</a:t>
            </a:r>
            <a:endParaRPr lang="en-US" sz="1000" dirty="0"/>
          </a:p>
        </p:txBody>
      </p:sp>
      <p:sp>
        <p:nvSpPr>
          <p:cNvPr id="17" name="Text 15"/>
          <p:cNvSpPr/>
          <p:nvPr/>
        </p:nvSpPr>
        <p:spPr>
          <a:xfrm>
            <a:off x="365760" y="2606040"/>
            <a:ext cx="8412480" cy="365760"/>
          </a:xfrm>
          <a:prstGeom prst="rect">
            <a:avLst/>
          </a:prstGeom>
          <a:noFill/>
          <a:ln/>
        </p:spPr>
        <p:txBody>
          <a:bodyPr wrap="square" rtlCol="0" anchor="ctr"/>
          <a:lstStyle/>
          <a:p>
            <a:pPr marL="0" indent="0">
              <a:buNone/>
            </a:pPr>
            <a:r>
              <a:rPr lang="en-US" sz="1500" b="1" dirty="0">
                <a:solidFill>
                  <a:srgbClr val="14B8A6"/>
                </a:solidFill>
              </a:rPr>
              <a:t>Competitive Advantage</a:t>
            </a:r>
            <a:endParaRPr lang="en-US" sz="1500" dirty="0"/>
          </a:p>
        </p:txBody>
      </p:sp>
      <p:pic>
        <p:nvPicPr>
          <p:cNvPr id="18" name="Image 0" descr="preencoded.png"/>
          <p:cNvPicPr>
            <a:picLocks noChangeAspect="1"/>
          </p:cNvPicPr>
          <p:nvPr/>
        </p:nvPicPr>
        <p:blipFill>
          <a:blip r:embed="rId3"/>
          <a:stretch>
            <a:fillRect/>
          </a:stretch>
        </p:blipFill>
        <p:spPr>
          <a:xfrm>
            <a:off x="365760" y="3017520"/>
            <a:ext cx="274320" cy="274320"/>
          </a:xfrm>
          <a:prstGeom prst="rect">
            <a:avLst/>
          </a:prstGeom>
        </p:spPr>
      </p:pic>
      <p:sp>
        <p:nvSpPr>
          <p:cNvPr id="19" name="Text 16"/>
          <p:cNvSpPr/>
          <p:nvPr/>
        </p:nvSpPr>
        <p:spPr>
          <a:xfrm>
            <a:off x="731520" y="2999232"/>
            <a:ext cx="8138160" cy="347472"/>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Detects theft during load shedding</a:t>
            </a:r>
            <a:endParaRPr lang="en-US" sz="1300" dirty="0"/>
          </a:p>
        </p:txBody>
      </p:sp>
      <p:pic>
        <p:nvPicPr>
          <p:cNvPr id="20" name="Image 1" descr="preencoded.png"/>
          <p:cNvPicPr>
            <a:picLocks noChangeAspect="1"/>
          </p:cNvPicPr>
          <p:nvPr/>
        </p:nvPicPr>
        <p:blipFill>
          <a:blip r:embed="rId3"/>
          <a:stretch>
            <a:fillRect/>
          </a:stretch>
        </p:blipFill>
        <p:spPr>
          <a:xfrm>
            <a:off x="365760" y="3493008"/>
            <a:ext cx="274320" cy="274320"/>
          </a:xfrm>
          <a:prstGeom prst="rect">
            <a:avLst/>
          </a:prstGeom>
        </p:spPr>
      </p:pic>
      <p:sp>
        <p:nvSpPr>
          <p:cNvPr id="21" name="Text 17"/>
          <p:cNvSpPr/>
          <p:nvPr/>
        </p:nvSpPr>
        <p:spPr>
          <a:xfrm>
            <a:off x="731520" y="3474720"/>
            <a:ext cx="8138160" cy="347472"/>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Better response time for dispatched units</a:t>
            </a:r>
            <a:endParaRPr lang="en-US" sz="1300" dirty="0"/>
          </a:p>
        </p:txBody>
      </p:sp>
      <p:pic>
        <p:nvPicPr>
          <p:cNvPr id="26" name="Image 1" descr="preencoded.png">
            <a:extLst>
              <a:ext uri="{FF2B5EF4-FFF2-40B4-BE49-F238E27FC236}">
                <a16:creationId xmlns:a16="http://schemas.microsoft.com/office/drawing/2014/main" id="{E491D94A-5F98-4A90-0908-6B91CBBA82ED}"/>
              </a:ext>
            </a:extLst>
          </p:cNvPr>
          <p:cNvPicPr>
            <a:picLocks noChangeAspect="1"/>
          </p:cNvPicPr>
          <p:nvPr/>
        </p:nvPicPr>
        <p:blipFill>
          <a:blip r:embed="rId3"/>
          <a:stretch>
            <a:fillRect/>
          </a:stretch>
        </p:blipFill>
        <p:spPr>
          <a:xfrm>
            <a:off x="365760" y="4046220"/>
            <a:ext cx="274320" cy="274320"/>
          </a:xfrm>
          <a:prstGeom prst="rect">
            <a:avLst/>
          </a:prstGeom>
        </p:spPr>
      </p:pic>
      <p:sp>
        <p:nvSpPr>
          <p:cNvPr id="27" name="Text 17">
            <a:extLst>
              <a:ext uri="{FF2B5EF4-FFF2-40B4-BE49-F238E27FC236}">
                <a16:creationId xmlns:a16="http://schemas.microsoft.com/office/drawing/2014/main" id="{E16F0F73-130D-BBC4-1ADD-3FA50A6E5CD4}"/>
              </a:ext>
            </a:extLst>
          </p:cNvPr>
          <p:cNvSpPr/>
          <p:nvPr/>
        </p:nvSpPr>
        <p:spPr>
          <a:xfrm>
            <a:off x="731520" y="3974592"/>
            <a:ext cx="8138160" cy="347472"/>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Better statical reports that can improve physical </a:t>
            </a:r>
            <a:r>
              <a:rPr lang="en-US" sz="1300" dirty="0" err="1">
                <a:solidFill>
                  <a:srgbClr val="E2E8F0"/>
                </a:solidFill>
                <a:latin typeface="Calibri" pitchFamily="34" charset="0"/>
                <a:ea typeface="Calibri" pitchFamily="34" charset="-122"/>
                <a:cs typeface="Calibri" pitchFamily="34" charset="-120"/>
              </a:rPr>
              <a:t>infrustucture</a:t>
            </a:r>
            <a:r>
              <a:rPr lang="en-US" sz="1300" dirty="0">
                <a:solidFill>
                  <a:srgbClr val="E2E8F0"/>
                </a:solidFill>
                <a:latin typeface="Calibri" pitchFamily="34" charset="0"/>
                <a:ea typeface="Calibri" pitchFamily="34" charset="-122"/>
                <a:cs typeface="Calibri" pitchFamily="34" charset="-120"/>
              </a:rPr>
              <a:t> maintenance in the long term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1F35"/>
          </a:solidFill>
          <a:ln/>
        </p:spPr>
      </p:sp>
      <p:sp>
        <p:nvSpPr>
          <p:cNvPr id="3" name="Text 1"/>
          <p:cNvSpPr/>
          <p:nvPr/>
        </p:nvSpPr>
        <p:spPr>
          <a:xfrm>
            <a:off x="457200" y="0"/>
            <a:ext cx="8229600" cy="365760"/>
          </a:xfrm>
          <a:prstGeom prst="rect">
            <a:avLst/>
          </a:prstGeom>
          <a:noFill/>
          <a:ln/>
        </p:spPr>
        <p:txBody>
          <a:bodyPr wrap="square" lIns="0" tIns="0" rIns="0" bIns="0" rtlCol="0" anchor="b"/>
          <a:lstStyle/>
          <a:p>
            <a:pPr marL="0" indent="0">
              <a:buNone/>
            </a:pPr>
            <a:r>
              <a:rPr lang="en-US" sz="1100" b="1" kern="0" spc="400" dirty="0">
                <a:solidFill>
                  <a:srgbClr val="0D9488"/>
                </a:solidFill>
              </a:rPr>
              <a:t>HOW IT WORKS</a:t>
            </a:r>
            <a:endParaRPr lang="en-US" sz="1100" dirty="0"/>
          </a:p>
        </p:txBody>
      </p:sp>
      <p:sp>
        <p:nvSpPr>
          <p:cNvPr id="4" name="Text 2"/>
          <p:cNvSpPr/>
          <p:nvPr/>
        </p:nvSpPr>
        <p:spPr>
          <a:xfrm>
            <a:off x="457200" y="347472"/>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Detection in Under 15 Seconds</a:t>
            </a:r>
            <a:endParaRPr lang="en-US" sz="2800" dirty="0"/>
          </a:p>
        </p:txBody>
      </p:sp>
      <p:sp>
        <p:nvSpPr>
          <p:cNvPr id="5" name="Shape 3"/>
          <p:cNvSpPr/>
          <p:nvPr/>
        </p:nvSpPr>
        <p:spPr>
          <a:xfrm>
            <a:off x="228600" y="1188720"/>
            <a:ext cx="2743200" cy="1508760"/>
          </a:xfrm>
          <a:prstGeom prst="roundRect">
            <a:avLst>
              <a:gd name="adj" fmla="val 6061"/>
            </a:avLst>
          </a:prstGeom>
          <a:solidFill>
            <a:srgbClr val="1A2A45"/>
          </a:solidFill>
          <a:ln/>
          <a:effectLst>
            <a:outerShdw blurRad="127000" dist="38100" dir="2700000" algn="bl" rotWithShape="0">
              <a:srgbClr val="000000">
                <a:alpha val="25000"/>
              </a:srgbClr>
            </a:outerShdw>
          </a:effectLst>
        </p:spPr>
      </p:sp>
      <p:sp>
        <p:nvSpPr>
          <p:cNvPr id="6" name="Shape 4"/>
          <p:cNvSpPr/>
          <p:nvPr/>
        </p:nvSpPr>
        <p:spPr>
          <a:xfrm>
            <a:off x="338328" y="1298448"/>
            <a:ext cx="502920" cy="502920"/>
          </a:xfrm>
          <a:prstGeom prst="ellipse">
            <a:avLst/>
          </a:prstGeom>
          <a:solidFill>
            <a:srgbClr val="EF4444"/>
          </a:solidFill>
          <a:ln/>
        </p:spPr>
      </p:sp>
      <p:sp>
        <p:nvSpPr>
          <p:cNvPr id="7" name="Text 5"/>
          <p:cNvSpPr/>
          <p:nvPr/>
        </p:nvSpPr>
        <p:spPr>
          <a:xfrm>
            <a:off x="338328" y="1298448"/>
            <a:ext cx="502920" cy="502920"/>
          </a:xfrm>
          <a:prstGeom prst="rect">
            <a:avLst/>
          </a:prstGeom>
          <a:noFill/>
          <a:ln/>
        </p:spPr>
        <p:txBody>
          <a:bodyPr wrap="square" lIns="0" tIns="0" rIns="0" bIns="0" rtlCol="0" anchor="ctr"/>
          <a:lstStyle/>
          <a:p>
            <a:pPr marL="0" indent="0" algn="ctr">
              <a:buNone/>
            </a:pPr>
            <a:r>
              <a:rPr lang="en-US" sz="1400" b="1" dirty="0">
                <a:solidFill>
                  <a:srgbClr val="0B1120"/>
                </a:solidFill>
              </a:rPr>
              <a:t>1</a:t>
            </a:r>
            <a:endParaRPr lang="en-US" sz="1400" dirty="0"/>
          </a:p>
        </p:txBody>
      </p:sp>
      <p:sp>
        <p:nvSpPr>
          <p:cNvPr id="8" name="Text 6"/>
          <p:cNvSpPr/>
          <p:nvPr/>
        </p:nvSpPr>
        <p:spPr>
          <a:xfrm>
            <a:off x="914400" y="1298448"/>
            <a:ext cx="1920240" cy="502920"/>
          </a:xfrm>
          <a:prstGeom prst="rect">
            <a:avLst/>
          </a:prstGeom>
          <a:noFill/>
          <a:ln/>
        </p:spPr>
        <p:txBody>
          <a:bodyPr wrap="square" rtlCol="0" anchor="ctr"/>
          <a:lstStyle/>
          <a:p>
            <a:pPr marL="0" indent="0">
              <a:buNone/>
            </a:pPr>
            <a:r>
              <a:rPr lang="en-US" sz="1300" b="1" dirty="0">
                <a:solidFill>
                  <a:srgbClr val="FFFFFF"/>
                </a:solidFill>
              </a:rPr>
              <a:t>AC Power Drops</a:t>
            </a:r>
            <a:endParaRPr lang="en-US" sz="1300" dirty="0"/>
          </a:p>
        </p:txBody>
      </p:sp>
      <p:sp>
        <p:nvSpPr>
          <p:cNvPr id="9" name="Text 7"/>
          <p:cNvSpPr/>
          <p:nvPr/>
        </p:nvSpPr>
        <p:spPr>
          <a:xfrm>
            <a:off x="338328" y="1874520"/>
            <a:ext cx="2514600" cy="731520"/>
          </a:xfrm>
          <a:prstGeom prst="rect">
            <a:avLst/>
          </a:prstGeom>
          <a:noFill/>
          <a:ln/>
        </p:spPr>
        <p:txBody>
          <a:bodyPr wrap="square" rtlCol="0" anchor="t"/>
          <a:lstStyle/>
          <a:p>
            <a:pPr marL="0" indent="0">
              <a:buNone/>
            </a:pPr>
            <a:r>
              <a:rPr lang="en-US" sz="1100" dirty="0">
                <a:solidFill>
                  <a:srgbClr val="94A3B8"/>
                </a:solidFill>
                <a:latin typeface="Calibri" pitchFamily="34" charset="0"/>
                <a:ea typeface="Calibri" pitchFamily="34" charset="-122"/>
                <a:cs typeface="Calibri" pitchFamily="34" charset="-120"/>
              </a:rPr>
              <a:t>Load shedding or theft event begins. Grid goes offline.</a:t>
            </a:r>
            <a:endParaRPr lang="en-US" sz="1100" dirty="0"/>
          </a:p>
        </p:txBody>
      </p:sp>
      <p:sp>
        <p:nvSpPr>
          <p:cNvPr id="10" name="Shape 8"/>
          <p:cNvSpPr/>
          <p:nvPr/>
        </p:nvSpPr>
        <p:spPr>
          <a:xfrm>
            <a:off x="2971800" y="1938528"/>
            <a:ext cx="228600" cy="0"/>
          </a:xfrm>
          <a:prstGeom prst="line">
            <a:avLst/>
          </a:prstGeom>
          <a:noFill/>
          <a:ln w="25400">
            <a:solidFill>
              <a:srgbClr val="0D9488"/>
            </a:solidFill>
            <a:prstDash val="solid"/>
          </a:ln>
        </p:spPr>
      </p:sp>
      <p:sp>
        <p:nvSpPr>
          <p:cNvPr id="11" name="Shape 9"/>
          <p:cNvSpPr/>
          <p:nvPr/>
        </p:nvSpPr>
        <p:spPr>
          <a:xfrm>
            <a:off x="3200400" y="1188720"/>
            <a:ext cx="2743200" cy="1508760"/>
          </a:xfrm>
          <a:prstGeom prst="roundRect">
            <a:avLst>
              <a:gd name="adj" fmla="val 6061"/>
            </a:avLst>
          </a:prstGeom>
          <a:solidFill>
            <a:srgbClr val="1A2A45"/>
          </a:solidFill>
          <a:ln/>
          <a:effectLst>
            <a:outerShdw blurRad="127000" dist="38100" dir="2700000" algn="bl" rotWithShape="0">
              <a:srgbClr val="000000">
                <a:alpha val="25000"/>
              </a:srgbClr>
            </a:outerShdw>
          </a:effectLst>
        </p:spPr>
      </p:sp>
      <p:sp>
        <p:nvSpPr>
          <p:cNvPr id="12" name="Shape 10"/>
          <p:cNvSpPr/>
          <p:nvPr/>
        </p:nvSpPr>
        <p:spPr>
          <a:xfrm>
            <a:off x="3310128" y="1298448"/>
            <a:ext cx="502920" cy="502920"/>
          </a:xfrm>
          <a:prstGeom prst="ellipse">
            <a:avLst/>
          </a:prstGeom>
          <a:solidFill>
            <a:srgbClr val="F59E0B"/>
          </a:solidFill>
          <a:ln/>
        </p:spPr>
      </p:sp>
      <p:sp>
        <p:nvSpPr>
          <p:cNvPr id="13" name="Text 11"/>
          <p:cNvSpPr/>
          <p:nvPr/>
        </p:nvSpPr>
        <p:spPr>
          <a:xfrm>
            <a:off x="3310128" y="1298448"/>
            <a:ext cx="502920" cy="502920"/>
          </a:xfrm>
          <a:prstGeom prst="rect">
            <a:avLst/>
          </a:prstGeom>
          <a:noFill/>
          <a:ln/>
        </p:spPr>
        <p:txBody>
          <a:bodyPr wrap="square" lIns="0" tIns="0" rIns="0" bIns="0" rtlCol="0" anchor="ctr"/>
          <a:lstStyle/>
          <a:p>
            <a:pPr marL="0" indent="0" algn="ctr">
              <a:buNone/>
            </a:pPr>
            <a:r>
              <a:rPr lang="en-US" sz="1400" b="1" dirty="0">
                <a:solidFill>
                  <a:srgbClr val="0B1120"/>
                </a:solidFill>
              </a:rPr>
              <a:t>2</a:t>
            </a:r>
            <a:endParaRPr lang="en-US" sz="1400" dirty="0"/>
          </a:p>
        </p:txBody>
      </p:sp>
      <p:sp>
        <p:nvSpPr>
          <p:cNvPr id="14" name="Text 12"/>
          <p:cNvSpPr/>
          <p:nvPr/>
        </p:nvSpPr>
        <p:spPr>
          <a:xfrm>
            <a:off x="3886200" y="1298448"/>
            <a:ext cx="1920240" cy="502920"/>
          </a:xfrm>
          <a:prstGeom prst="rect">
            <a:avLst/>
          </a:prstGeom>
          <a:noFill/>
          <a:ln/>
        </p:spPr>
        <p:txBody>
          <a:bodyPr wrap="square" rtlCol="0" anchor="ctr"/>
          <a:lstStyle/>
          <a:p>
            <a:pPr marL="0" indent="0">
              <a:buNone/>
            </a:pPr>
            <a:r>
              <a:rPr lang="en-US" sz="1300" b="1" dirty="0">
                <a:solidFill>
                  <a:srgbClr val="FFFFFF"/>
                </a:solidFill>
              </a:rPr>
              <a:t>DC Pulse Activated</a:t>
            </a:r>
            <a:endParaRPr lang="en-US" sz="1300" dirty="0"/>
          </a:p>
        </p:txBody>
      </p:sp>
      <p:sp>
        <p:nvSpPr>
          <p:cNvPr id="15" name="Text 13"/>
          <p:cNvSpPr/>
          <p:nvPr/>
        </p:nvSpPr>
        <p:spPr>
          <a:xfrm>
            <a:off x="3310128" y="1874520"/>
            <a:ext cx="2514600" cy="731520"/>
          </a:xfrm>
          <a:prstGeom prst="rect">
            <a:avLst/>
          </a:prstGeom>
          <a:noFill/>
          <a:ln/>
        </p:spPr>
        <p:txBody>
          <a:bodyPr wrap="square" rtlCol="0" anchor="t"/>
          <a:lstStyle/>
          <a:p>
            <a:pPr marL="0" indent="0">
              <a:buNone/>
            </a:pPr>
            <a:r>
              <a:rPr lang="en-US" sz="1100" dirty="0">
                <a:solidFill>
                  <a:srgbClr val="94A3B8"/>
                </a:solidFill>
                <a:latin typeface="Calibri" pitchFamily="34" charset="0"/>
                <a:ea typeface="Calibri" pitchFamily="34" charset="-122"/>
                <a:cs typeface="Calibri" pitchFamily="34" charset="-120"/>
              </a:rPr>
              <a:t>CTM001 switches to battery &amp; injects DC continuity pulse.</a:t>
            </a:r>
            <a:endParaRPr lang="en-US" sz="1100" dirty="0"/>
          </a:p>
        </p:txBody>
      </p:sp>
      <p:sp>
        <p:nvSpPr>
          <p:cNvPr id="16" name="Shape 14"/>
          <p:cNvSpPr/>
          <p:nvPr/>
        </p:nvSpPr>
        <p:spPr>
          <a:xfrm>
            <a:off x="5943600" y="1938528"/>
            <a:ext cx="228600" cy="0"/>
          </a:xfrm>
          <a:prstGeom prst="line">
            <a:avLst/>
          </a:prstGeom>
          <a:noFill/>
          <a:ln w="25400">
            <a:solidFill>
              <a:srgbClr val="0D9488"/>
            </a:solidFill>
            <a:prstDash val="solid"/>
          </a:ln>
        </p:spPr>
      </p:sp>
      <p:sp>
        <p:nvSpPr>
          <p:cNvPr id="17" name="Shape 15"/>
          <p:cNvSpPr/>
          <p:nvPr/>
        </p:nvSpPr>
        <p:spPr>
          <a:xfrm>
            <a:off x="6172200" y="1188720"/>
            <a:ext cx="2743200" cy="1508760"/>
          </a:xfrm>
          <a:prstGeom prst="roundRect">
            <a:avLst>
              <a:gd name="adj" fmla="val 6061"/>
            </a:avLst>
          </a:prstGeom>
          <a:solidFill>
            <a:srgbClr val="1A2A45"/>
          </a:solidFill>
          <a:ln/>
          <a:effectLst>
            <a:outerShdw blurRad="127000" dist="38100" dir="2700000" algn="bl" rotWithShape="0">
              <a:srgbClr val="000000">
                <a:alpha val="25000"/>
              </a:srgbClr>
            </a:outerShdw>
          </a:effectLst>
        </p:spPr>
      </p:sp>
      <p:sp>
        <p:nvSpPr>
          <p:cNvPr id="18" name="Shape 16"/>
          <p:cNvSpPr/>
          <p:nvPr/>
        </p:nvSpPr>
        <p:spPr>
          <a:xfrm>
            <a:off x="6281928" y="1298448"/>
            <a:ext cx="502920" cy="502920"/>
          </a:xfrm>
          <a:prstGeom prst="ellipse">
            <a:avLst/>
          </a:prstGeom>
          <a:solidFill>
            <a:srgbClr val="EF4444"/>
          </a:solidFill>
          <a:ln/>
        </p:spPr>
      </p:sp>
      <p:sp>
        <p:nvSpPr>
          <p:cNvPr id="19" name="Text 17"/>
          <p:cNvSpPr/>
          <p:nvPr/>
        </p:nvSpPr>
        <p:spPr>
          <a:xfrm>
            <a:off x="6281928" y="1298448"/>
            <a:ext cx="502920" cy="502920"/>
          </a:xfrm>
          <a:prstGeom prst="rect">
            <a:avLst/>
          </a:prstGeom>
          <a:noFill/>
          <a:ln/>
        </p:spPr>
        <p:txBody>
          <a:bodyPr wrap="square" lIns="0" tIns="0" rIns="0" bIns="0" rtlCol="0" anchor="ctr"/>
          <a:lstStyle/>
          <a:p>
            <a:pPr marL="0" indent="0" algn="ctr">
              <a:buNone/>
            </a:pPr>
            <a:r>
              <a:rPr lang="en-US" sz="1400" b="1" dirty="0">
                <a:solidFill>
                  <a:srgbClr val="0B1120"/>
                </a:solidFill>
              </a:rPr>
              <a:t>3</a:t>
            </a:r>
            <a:endParaRPr lang="en-US" sz="1400" dirty="0"/>
          </a:p>
        </p:txBody>
      </p:sp>
      <p:sp>
        <p:nvSpPr>
          <p:cNvPr id="20" name="Text 18"/>
          <p:cNvSpPr/>
          <p:nvPr/>
        </p:nvSpPr>
        <p:spPr>
          <a:xfrm>
            <a:off x="6858000" y="1298448"/>
            <a:ext cx="1920240" cy="502920"/>
          </a:xfrm>
          <a:prstGeom prst="rect">
            <a:avLst/>
          </a:prstGeom>
          <a:noFill/>
          <a:ln/>
        </p:spPr>
        <p:txBody>
          <a:bodyPr wrap="square" rtlCol="0" anchor="ctr"/>
          <a:lstStyle/>
          <a:p>
            <a:pPr marL="0" indent="0">
              <a:buNone/>
            </a:pPr>
            <a:r>
              <a:rPr lang="en-US" sz="1300" b="1" dirty="0">
                <a:solidFill>
                  <a:srgbClr val="FFFFFF"/>
                </a:solidFill>
              </a:rPr>
              <a:t>Cable Severed</a:t>
            </a:r>
            <a:endParaRPr lang="en-US" sz="1300" dirty="0"/>
          </a:p>
        </p:txBody>
      </p:sp>
      <p:sp>
        <p:nvSpPr>
          <p:cNvPr id="21" name="Text 19"/>
          <p:cNvSpPr/>
          <p:nvPr/>
        </p:nvSpPr>
        <p:spPr>
          <a:xfrm>
            <a:off x="6281928" y="1874520"/>
            <a:ext cx="2514600" cy="731520"/>
          </a:xfrm>
          <a:prstGeom prst="rect">
            <a:avLst/>
          </a:prstGeom>
          <a:noFill/>
          <a:ln/>
        </p:spPr>
        <p:txBody>
          <a:bodyPr wrap="square" rtlCol="0" anchor="t"/>
          <a:lstStyle/>
          <a:p>
            <a:pPr marL="0" indent="0">
              <a:buNone/>
            </a:pPr>
            <a:r>
              <a:rPr lang="en-US" sz="1100" dirty="0">
                <a:solidFill>
                  <a:srgbClr val="94A3B8"/>
                </a:solidFill>
                <a:latin typeface="Calibri" pitchFamily="34" charset="0"/>
                <a:ea typeface="Calibri" pitchFamily="34" charset="-122"/>
                <a:cs typeface="Calibri" pitchFamily="34" charset="-120"/>
              </a:rPr>
              <a:t>Thief physically cuts the cable — continuity loop breaks.</a:t>
            </a:r>
            <a:endParaRPr lang="en-US" sz="1100" dirty="0"/>
          </a:p>
        </p:txBody>
      </p:sp>
      <p:sp>
        <p:nvSpPr>
          <p:cNvPr id="22" name="Shape 20"/>
          <p:cNvSpPr/>
          <p:nvPr/>
        </p:nvSpPr>
        <p:spPr>
          <a:xfrm>
            <a:off x="228600" y="2926080"/>
            <a:ext cx="2743200" cy="1508760"/>
          </a:xfrm>
          <a:prstGeom prst="roundRect">
            <a:avLst>
              <a:gd name="adj" fmla="val 6061"/>
            </a:avLst>
          </a:prstGeom>
          <a:solidFill>
            <a:srgbClr val="1A2A45"/>
          </a:solidFill>
          <a:ln/>
          <a:effectLst>
            <a:outerShdw blurRad="127000" dist="38100" dir="2700000" algn="bl" rotWithShape="0">
              <a:srgbClr val="000000">
                <a:alpha val="25000"/>
              </a:srgbClr>
            </a:outerShdw>
          </a:effectLst>
        </p:spPr>
      </p:sp>
      <p:sp>
        <p:nvSpPr>
          <p:cNvPr id="23" name="Shape 21"/>
          <p:cNvSpPr/>
          <p:nvPr/>
        </p:nvSpPr>
        <p:spPr>
          <a:xfrm>
            <a:off x="338328" y="3035808"/>
            <a:ext cx="502920" cy="502920"/>
          </a:xfrm>
          <a:prstGeom prst="ellipse">
            <a:avLst/>
          </a:prstGeom>
          <a:solidFill>
            <a:srgbClr val="FCD34D"/>
          </a:solidFill>
          <a:ln/>
        </p:spPr>
      </p:sp>
      <p:sp>
        <p:nvSpPr>
          <p:cNvPr id="24" name="Text 22"/>
          <p:cNvSpPr/>
          <p:nvPr/>
        </p:nvSpPr>
        <p:spPr>
          <a:xfrm>
            <a:off x="338328" y="3035808"/>
            <a:ext cx="502920" cy="502920"/>
          </a:xfrm>
          <a:prstGeom prst="rect">
            <a:avLst/>
          </a:prstGeom>
          <a:noFill/>
          <a:ln/>
        </p:spPr>
        <p:txBody>
          <a:bodyPr wrap="square" lIns="0" tIns="0" rIns="0" bIns="0" rtlCol="0" anchor="ctr"/>
          <a:lstStyle/>
          <a:p>
            <a:pPr marL="0" indent="0" algn="ctr">
              <a:buNone/>
            </a:pPr>
            <a:r>
              <a:rPr lang="en-US" sz="1400" b="1" dirty="0">
                <a:solidFill>
                  <a:srgbClr val="0B1120"/>
                </a:solidFill>
              </a:rPr>
              <a:t>4</a:t>
            </a:r>
            <a:endParaRPr lang="en-US" sz="1400" dirty="0"/>
          </a:p>
        </p:txBody>
      </p:sp>
      <p:sp>
        <p:nvSpPr>
          <p:cNvPr id="25" name="Text 23"/>
          <p:cNvSpPr/>
          <p:nvPr/>
        </p:nvSpPr>
        <p:spPr>
          <a:xfrm>
            <a:off x="914400" y="3035808"/>
            <a:ext cx="1920240" cy="502920"/>
          </a:xfrm>
          <a:prstGeom prst="rect">
            <a:avLst/>
          </a:prstGeom>
          <a:noFill/>
          <a:ln/>
        </p:spPr>
        <p:txBody>
          <a:bodyPr wrap="square" rtlCol="0" anchor="ctr"/>
          <a:lstStyle/>
          <a:p>
            <a:pPr marL="0" indent="0">
              <a:buNone/>
            </a:pPr>
            <a:r>
              <a:rPr lang="en-US" sz="1300" b="1" dirty="0">
                <a:solidFill>
                  <a:srgbClr val="FFFFFF"/>
                </a:solidFill>
              </a:rPr>
              <a:t>Instant Alert</a:t>
            </a:r>
            <a:endParaRPr lang="en-US" sz="1300" dirty="0"/>
          </a:p>
        </p:txBody>
      </p:sp>
      <p:sp>
        <p:nvSpPr>
          <p:cNvPr id="26" name="Text 24"/>
          <p:cNvSpPr/>
          <p:nvPr/>
        </p:nvSpPr>
        <p:spPr>
          <a:xfrm>
            <a:off x="338328" y="3611880"/>
            <a:ext cx="2514600" cy="731520"/>
          </a:xfrm>
          <a:prstGeom prst="rect">
            <a:avLst/>
          </a:prstGeom>
          <a:noFill/>
          <a:ln/>
        </p:spPr>
        <p:txBody>
          <a:bodyPr wrap="square" rtlCol="0" anchor="t"/>
          <a:lstStyle/>
          <a:p>
            <a:pPr marL="0" indent="0">
              <a:buNone/>
            </a:pPr>
            <a:r>
              <a:rPr lang="en-US" sz="1100" dirty="0">
                <a:solidFill>
                  <a:srgbClr val="94A3B8"/>
                </a:solidFill>
                <a:latin typeface="Calibri" pitchFamily="34" charset="0"/>
                <a:ea typeface="Calibri" pitchFamily="34" charset="-122"/>
                <a:cs typeface="Calibri" pitchFamily="34" charset="-120"/>
              </a:rPr>
              <a:t>CM2 unit transmits emergency alert via cellular network.</a:t>
            </a:r>
            <a:endParaRPr lang="en-US" sz="1100" dirty="0"/>
          </a:p>
        </p:txBody>
      </p:sp>
      <p:sp>
        <p:nvSpPr>
          <p:cNvPr id="27" name="Shape 25"/>
          <p:cNvSpPr/>
          <p:nvPr/>
        </p:nvSpPr>
        <p:spPr>
          <a:xfrm>
            <a:off x="2971800" y="3675888"/>
            <a:ext cx="228600" cy="0"/>
          </a:xfrm>
          <a:prstGeom prst="line">
            <a:avLst/>
          </a:prstGeom>
          <a:noFill/>
          <a:ln w="25400">
            <a:solidFill>
              <a:srgbClr val="0D9488"/>
            </a:solidFill>
            <a:prstDash val="solid"/>
          </a:ln>
        </p:spPr>
      </p:sp>
      <p:sp>
        <p:nvSpPr>
          <p:cNvPr id="28" name="Shape 26"/>
          <p:cNvSpPr/>
          <p:nvPr/>
        </p:nvSpPr>
        <p:spPr>
          <a:xfrm>
            <a:off x="3200400" y="2926080"/>
            <a:ext cx="2743200" cy="1508760"/>
          </a:xfrm>
          <a:prstGeom prst="roundRect">
            <a:avLst>
              <a:gd name="adj" fmla="val 6061"/>
            </a:avLst>
          </a:prstGeom>
          <a:solidFill>
            <a:srgbClr val="1A2A45"/>
          </a:solidFill>
          <a:ln/>
          <a:effectLst>
            <a:outerShdw blurRad="127000" dist="38100" dir="2700000" algn="bl" rotWithShape="0">
              <a:srgbClr val="000000">
                <a:alpha val="25000"/>
              </a:srgbClr>
            </a:outerShdw>
          </a:effectLst>
        </p:spPr>
      </p:sp>
      <p:sp>
        <p:nvSpPr>
          <p:cNvPr id="29" name="Shape 27"/>
          <p:cNvSpPr/>
          <p:nvPr/>
        </p:nvSpPr>
        <p:spPr>
          <a:xfrm>
            <a:off x="3310128" y="3035808"/>
            <a:ext cx="502920" cy="502920"/>
          </a:xfrm>
          <a:prstGeom prst="ellipse">
            <a:avLst/>
          </a:prstGeom>
          <a:solidFill>
            <a:srgbClr val="0D9488"/>
          </a:solidFill>
          <a:ln/>
        </p:spPr>
      </p:sp>
      <p:sp>
        <p:nvSpPr>
          <p:cNvPr id="30" name="Text 28"/>
          <p:cNvSpPr/>
          <p:nvPr/>
        </p:nvSpPr>
        <p:spPr>
          <a:xfrm>
            <a:off x="3310128" y="3035808"/>
            <a:ext cx="502920" cy="502920"/>
          </a:xfrm>
          <a:prstGeom prst="rect">
            <a:avLst/>
          </a:prstGeom>
          <a:noFill/>
          <a:ln/>
        </p:spPr>
        <p:txBody>
          <a:bodyPr wrap="square" lIns="0" tIns="0" rIns="0" bIns="0" rtlCol="0" anchor="ctr"/>
          <a:lstStyle/>
          <a:p>
            <a:pPr marL="0" indent="0" algn="ctr">
              <a:buNone/>
            </a:pPr>
            <a:r>
              <a:rPr lang="en-US" sz="1400" b="1" dirty="0">
                <a:solidFill>
                  <a:srgbClr val="0B1120"/>
                </a:solidFill>
              </a:rPr>
              <a:t>5</a:t>
            </a:r>
            <a:endParaRPr lang="en-US" sz="1400" dirty="0"/>
          </a:p>
        </p:txBody>
      </p:sp>
      <p:sp>
        <p:nvSpPr>
          <p:cNvPr id="31" name="Text 29"/>
          <p:cNvSpPr/>
          <p:nvPr/>
        </p:nvSpPr>
        <p:spPr>
          <a:xfrm>
            <a:off x="3886200" y="3035808"/>
            <a:ext cx="1920240" cy="502920"/>
          </a:xfrm>
          <a:prstGeom prst="rect">
            <a:avLst/>
          </a:prstGeom>
          <a:noFill/>
          <a:ln/>
        </p:spPr>
        <p:txBody>
          <a:bodyPr wrap="square" rtlCol="0" anchor="ctr"/>
          <a:lstStyle/>
          <a:p>
            <a:pPr marL="0" indent="0">
              <a:buNone/>
            </a:pPr>
            <a:r>
              <a:rPr lang="en-US" sz="1300" b="1" dirty="0">
                <a:solidFill>
                  <a:srgbClr val="FFFFFF"/>
                </a:solidFill>
              </a:rPr>
              <a:t>AI Classifies Event</a:t>
            </a:r>
            <a:endParaRPr lang="en-US" sz="1300" dirty="0"/>
          </a:p>
        </p:txBody>
      </p:sp>
      <p:sp>
        <p:nvSpPr>
          <p:cNvPr id="32" name="Text 30"/>
          <p:cNvSpPr/>
          <p:nvPr/>
        </p:nvSpPr>
        <p:spPr>
          <a:xfrm>
            <a:off x="3310128" y="3611880"/>
            <a:ext cx="2514600" cy="731520"/>
          </a:xfrm>
          <a:prstGeom prst="rect">
            <a:avLst/>
          </a:prstGeom>
          <a:noFill/>
          <a:ln/>
        </p:spPr>
        <p:txBody>
          <a:bodyPr wrap="square" rtlCol="0" anchor="t"/>
          <a:lstStyle/>
          <a:p>
            <a:pPr marL="0" indent="0">
              <a:buNone/>
            </a:pPr>
            <a:r>
              <a:rPr lang="en-US" sz="1100" dirty="0">
                <a:solidFill>
                  <a:srgbClr val="94A3B8"/>
                </a:solidFill>
                <a:latin typeface="Calibri" pitchFamily="34" charset="0"/>
                <a:ea typeface="Calibri" pitchFamily="34" charset="-122"/>
                <a:cs typeface="Calibri" pitchFamily="34" charset="-120"/>
              </a:rPr>
              <a:t>Cloud AI distinguishes theft from regular outage within seconds.</a:t>
            </a:r>
            <a:endParaRPr lang="en-US" sz="1100" dirty="0"/>
          </a:p>
        </p:txBody>
      </p:sp>
      <p:sp>
        <p:nvSpPr>
          <p:cNvPr id="33" name="Shape 31"/>
          <p:cNvSpPr/>
          <p:nvPr/>
        </p:nvSpPr>
        <p:spPr>
          <a:xfrm>
            <a:off x="5943600" y="3675888"/>
            <a:ext cx="228600" cy="0"/>
          </a:xfrm>
          <a:prstGeom prst="line">
            <a:avLst/>
          </a:prstGeom>
          <a:noFill/>
          <a:ln w="25400">
            <a:solidFill>
              <a:srgbClr val="0D9488"/>
            </a:solidFill>
            <a:prstDash val="solid"/>
          </a:ln>
        </p:spPr>
      </p:sp>
      <p:sp>
        <p:nvSpPr>
          <p:cNvPr id="34" name="Shape 32"/>
          <p:cNvSpPr/>
          <p:nvPr/>
        </p:nvSpPr>
        <p:spPr>
          <a:xfrm>
            <a:off x="6172200" y="2926080"/>
            <a:ext cx="2743200" cy="1508760"/>
          </a:xfrm>
          <a:prstGeom prst="roundRect">
            <a:avLst>
              <a:gd name="adj" fmla="val 6061"/>
            </a:avLst>
          </a:prstGeom>
          <a:solidFill>
            <a:srgbClr val="1A2A45"/>
          </a:solidFill>
          <a:ln/>
          <a:effectLst>
            <a:outerShdw blurRad="127000" dist="38100" dir="2700000" algn="bl" rotWithShape="0">
              <a:srgbClr val="000000">
                <a:alpha val="25000"/>
              </a:srgbClr>
            </a:outerShdw>
          </a:effectLst>
        </p:spPr>
      </p:sp>
      <p:sp>
        <p:nvSpPr>
          <p:cNvPr id="35" name="Shape 33"/>
          <p:cNvSpPr/>
          <p:nvPr/>
        </p:nvSpPr>
        <p:spPr>
          <a:xfrm>
            <a:off x="6281928" y="3035808"/>
            <a:ext cx="502920" cy="502920"/>
          </a:xfrm>
          <a:prstGeom prst="ellipse">
            <a:avLst/>
          </a:prstGeom>
          <a:solidFill>
            <a:srgbClr val="22C55E"/>
          </a:solidFill>
          <a:ln/>
        </p:spPr>
      </p:sp>
      <p:sp>
        <p:nvSpPr>
          <p:cNvPr id="36" name="Text 34"/>
          <p:cNvSpPr/>
          <p:nvPr/>
        </p:nvSpPr>
        <p:spPr>
          <a:xfrm>
            <a:off x="6281928" y="3035808"/>
            <a:ext cx="502920" cy="502920"/>
          </a:xfrm>
          <a:prstGeom prst="rect">
            <a:avLst/>
          </a:prstGeom>
          <a:noFill/>
          <a:ln/>
        </p:spPr>
        <p:txBody>
          <a:bodyPr wrap="square" lIns="0" tIns="0" rIns="0" bIns="0" rtlCol="0" anchor="ctr"/>
          <a:lstStyle/>
          <a:p>
            <a:pPr marL="0" indent="0" algn="ctr">
              <a:buNone/>
            </a:pPr>
            <a:r>
              <a:rPr lang="en-US" sz="1400" b="1" dirty="0">
                <a:solidFill>
                  <a:srgbClr val="0B1120"/>
                </a:solidFill>
              </a:rPr>
              <a:t>6</a:t>
            </a:r>
            <a:endParaRPr lang="en-US" sz="1400" dirty="0"/>
          </a:p>
        </p:txBody>
      </p:sp>
      <p:sp>
        <p:nvSpPr>
          <p:cNvPr id="37" name="Text 35"/>
          <p:cNvSpPr/>
          <p:nvPr/>
        </p:nvSpPr>
        <p:spPr>
          <a:xfrm>
            <a:off x="6858000" y="3035808"/>
            <a:ext cx="1920240" cy="502920"/>
          </a:xfrm>
          <a:prstGeom prst="rect">
            <a:avLst/>
          </a:prstGeom>
          <a:noFill/>
          <a:ln/>
        </p:spPr>
        <p:txBody>
          <a:bodyPr wrap="square" rtlCol="0" anchor="ctr"/>
          <a:lstStyle/>
          <a:p>
            <a:pPr marL="0" indent="0">
              <a:buNone/>
            </a:pPr>
            <a:r>
              <a:rPr lang="en-US" sz="1300" b="1" dirty="0">
                <a:solidFill>
                  <a:srgbClr val="FFFFFF"/>
                </a:solidFill>
              </a:rPr>
              <a:t>Team Dispatched</a:t>
            </a:r>
            <a:endParaRPr lang="en-US" sz="1300" dirty="0"/>
          </a:p>
        </p:txBody>
      </p:sp>
      <p:sp>
        <p:nvSpPr>
          <p:cNvPr id="38" name="Text 36"/>
          <p:cNvSpPr/>
          <p:nvPr/>
        </p:nvSpPr>
        <p:spPr>
          <a:xfrm>
            <a:off x="6281928" y="3611880"/>
            <a:ext cx="2514600" cy="731520"/>
          </a:xfrm>
          <a:prstGeom prst="rect">
            <a:avLst/>
          </a:prstGeom>
          <a:noFill/>
          <a:ln/>
        </p:spPr>
        <p:txBody>
          <a:bodyPr wrap="square" rtlCol="0" anchor="t"/>
          <a:lstStyle/>
          <a:p>
            <a:pPr marL="0" indent="0">
              <a:buNone/>
            </a:pPr>
            <a:r>
              <a:rPr lang="en-US" sz="1100" dirty="0">
                <a:solidFill>
                  <a:srgbClr val="94A3B8"/>
                </a:solidFill>
                <a:latin typeface="Calibri" pitchFamily="34" charset="0"/>
                <a:ea typeface="Calibri" pitchFamily="34" charset="-122"/>
                <a:cs typeface="Calibri" pitchFamily="34" charset="-120"/>
              </a:rPr>
              <a:t>Municipal team gets GPS-pinpointed alert. Residence notified.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1F35"/>
          </a:solidFill>
          <a:ln/>
        </p:spPr>
      </p:sp>
      <p:sp>
        <p:nvSpPr>
          <p:cNvPr id="3" name="Text 1"/>
          <p:cNvSpPr/>
          <p:nvPr/>
        </p:nvSpPr>
        <p:spPr>
          <a:xfrm>
            <a:off x="457200" y="0"/>
            <a:ext cx="8229600" cy="365760"/>
          </a:xfrm>
          <a:prstGeom prst="rect">
            <a:avLst/>
          </a:prstGeom>
          <a:noFill/>
          <a:ln/>
        </p:spPr>
        <p:txBody>
          <a:bodyPr wrap="square" lIns="0" tIns="0" rIns="0" bIns="0" rtlCol="0" anchor="b"/>
          <a:lstStyle/>
          <a:p>
            <a:pPr marL="0" indent="0">
              <a:buNone/>
            </a:pPr>
            <a:r>
              <a:rPr lang="en-US" sz="1100" b="1" kern="0" spc="400" dirty="0">
                <a:solidFill>
                  <a:srgbClr val="F59E0B"/>
                </a:solidFill>
              </a:rPr>
              <a:t>COST ESTIMATION</a:t>
            </a:r>
            <a:endParaRPr lang="en-US" sz="1100" dirty="0"/>
          </a:p>
        </p:txBody>
      </p:sp>
      <p:sp>
        <p:nvSpPr>
          <p:cNvPr id="4" name="Text 2"/>
          <p:cNvSpPr/>
          <p:nvPr/>
        </p:nvSpPr>
        <p:spPr>
          <a:xfrm>
            <a:off x="457200" y="347472"/>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Deployment &amp; ROI Overview</a:t>
            </a:r>
            <a:endParaRPr lang="en-US" sz="2800" dirty="0"/>
          </a:p>
        </p:txBody>
      </p:sp>
      <p:sp>
        <p:nvSpPr>
          <p:cNvPr id="5" name="Text 3"/>
          <p:cNvSpPr/>
          <p:nvPr/>
        </p:nvSpPr>
        <p:spPr>
          <a:xfrm>
            <a:off x="365760" y="1078992"/>
            <a:ext cx="5029200" cy="320040"/>
          </a:xfrm>
          <a:prstGeom prst="rect">
            <a:avLst/>
          </a:prstGeom>
          <a:noFill/>
          <a:ln/>
        </p:spPr>
        <p:txBody>
          <a:bodyPr wrap="square" rtlCol="0" anchor="ctr"/>
          <a:lstStyle/>
          <a:p>
            <a:pPr marL="0" indent="0">
              <a:buNone/>
            </a:pPr>
            <a:r>
              <a:rPr lang="en-US" sz="1300" b="1" dirty="0">
                <a:solidFill>
                  <a:srgbClr val="14B8A6"/>
                </a:solidFill>
              </a:rPr>
              <a:t>Hardware Costs (per unit — approximate)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94450702"/>
              </p:ext>
            </p:extLst>
          </p:nvPr>
        </p:nvGraphicFramePr>
        <p:xfrm>
          <a:off x="365760" y="1417320"/>
          <a:ext cx="8412480" cy="1737360"/>
        </p:xfrm>
        <a:graphic>
          <a:graphicData uri="http://schemas.openxmlformats.org/drawingml/2006/table">
            <a:tbl>
              <a:tblPr/>
              <a:tblGrid>
                <a:gridCol w="3200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A2A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Unit Cost (ZAR)</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A2A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A2A45"/>
                    </a:solidFill>
                  </a:tcPr>
                </a:tc>
                <a:extLst>
                  <a:ext uri="{0D108BD9-81ED-4DB2-BD59-A6C34878D82A}">
                    <a16:rowId xmlns:a16="http://schemas.microsoft.com/office/drawing/2014/main" val="10000"/>
                  </a:ext>
                </a:extLst>
              </a:tr>
              <a:tr h="347472">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GSM Commander CTM001 + CM2</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R 8,000 – R 12,000</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Per transformer site</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extLst>
                  <a:ext uri="{0D108BD9-81ED-4DB2-BD59-A6C34878D82A}">
                    <a16:rowId xmlns:a16="http://schemas.microsoft.com/office/drawing/2014/main" val="10001"/>
                  </a:ext>
                </a:extLst>
              </a:tr>
              <a:tr h="347472">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Backup Battery Pack</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R 1,500 – R 2,500</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12V sealed lead-acid</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extLst>
                  <a:ext uri="{0D108BD9-81ED-4DB2-BD59-A6C34878D82A}">
                    <a16:rowId xmlns:a16="http://schemas.microsoft.com/office/drawing/2014/main" val="10002"/>
                  </a:ext>
                </a:extLst>
              </a:tr>
              <a:tr h="347472">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SIM / Cellular Data Plan</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R 150 – R 300 /mo</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Per transformer node</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extLst>
                  <a:ext uri="{0D108BD9-81ED-4DB2-BD59-A6C34878D82A}">
                    <a16:rowId xmlns:a16="http://schemas.microsoft.com/office/drawing/2014/main" val="10004"/>
                  </a:ext>
                </a:extLst>
              </a:tr>
              <a:tr h="347472">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Cloud Platform (SaaS)</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R 500 – R 2,000 /mo</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tc>
                  <a:txBody>
                    <a:bodyPr/>
                    <a:lstStyle/>
                    <a:p>
                      <a:pPr marL="0" indent="0">
                        <a:buNone/>
                      </a:pPr>
                      <a:r>
                        <a:rPr lang="en-US" sz="1100" dirty="0">
                          <a:solidFill>
                            <a:srgbClr val="E2E8F0"/>
                          </a:solidFill>
                          <a:latin typeface="Calibri" pitchFamily="34" charset="0"/>
                          <a:ea typeface="Calibri" pitchFamily="34" charset="-122"/>
                          <a:cs typeface="Calibri" pitchFamily="34" charset="-120"/>
                        </a:rPr>
                        <a:t>Per municipality zone</a:t>
                      </a:r>
                      <a:endParaRPr lang="en-US" sz="1100" dirty="0">
                        <a:latin typeface="Calibri" charset="0"/>
                        <a:ea typeface="Calibri" charset="0"/>
                        <a:cs typeface="Calibri" charset="0"/>
                      </a:endParaRPr>
                    </a:p>
                  </a:txBody>
                  <a:tcPr>
                    <a:lnL w="6350" cap="flat" cmpd="sng" algn="ctr">
                      <a:solidFill>
                        <a:srgbClr val="1A2A45"/>
                      </a:solidFill>
                      <a:prstDash val="solid"/>
                      <a:round/>
                      <a:headEnd type="none" w="med" len="med"/>
                      <a:tailEnd type="none" w="med" len="med"/>
                    </a:lnL>
                    <a:lnR w="6350" cap="flat" cmpd="sng" algn="ctr">
                      <a:solidFill>
                        <a:srgbClr val="1A2A45"/>
                      </a:solidFill>
                      <a:prstDash val="solid"/>
                      <a:round/>
                      <a:headEnd type="none" w="med" len="med"/>
                      <a:tailEnd type="none" w="med" len="med"/>
                    </a:lnR>
                    <a:lnT w="6350" cap="flat" cmpd="sng" algn="ctr">
                      <a:solidFill>
                        <a:srgbClr val="1A2A45"/>
                      </a:solidFill>
                      <a:prstDash val="solid"/>
                      <a:round/>
                      <a:headEnd type="none" w="med" len="med"/>
                      <a:tailEnd type="none" w="med" len="med"/>
                    </a:lnT>
                    <a:lnB w="6350" cap="flat" cmpd="sng" algn="ctr">
                      <a:solidFill>
                        <a:srgbClr val="1A2A45"/>
                      </a:solidFill>
                      <a:prstDash val="solid"/>
                      <a:round/>
                      <a:headEnd type="none" w="med" len="med"/>
                      <a:tailEnd type="none" w="med" len="med"/>
                    </a:lnB>
                    <a:solidFill>
                      <a:srgbClr val="131F35"/>
                    </a:solidFill>
                  </a:tcPr>
                </a:tc>
                <a:extLst>
                  <a:ext uri="{0D108BD9-81ED-4DB2-BD59-A6C34878D82A}">
                    <a16:rowId xmlns:a16="http://schemas.microsoft.com/office/drawing/2014/main" val="10005"/>
                  </a:ext>
                </a:extLst>
              </a:tr>
            </a:tbl>
          </a:graphicData>
        </a:graphic>
      </p:graphicFrame>
      <p:sp>
        <p:nvSpPr>
          <p:cNvPr id="7" name="Shape 4"/>
          <p:cNvSpPr/>
          <p:nvPr/>
        </p:nvSpPr>
        <p:spPr>
          <a:xfrm>
            <a:off x="365760" y="3822192"/>
            <a:ext cx="3931920" cy="1097280"/>
          </a:xfrm>
          <a:prstGeom prst="roundRect">
            <a:avLst>
              <a:gd name="adj" fmla="val 8333"/>
            </a:avLst>
          </a:prstGeom>
          <a:solidFill>
            <a:srgbClr val="1A2A45"/>
          </a:solidFill>
          <a:ln/>
          <a:effectLst>
            <a:outerShdw blurRad="127000" dist="38100" dir="2700000" algn="bl" rotWithShape="0">
              <a:srgbClr val="000000">
                <a:alpha val="25000"/>
              </a:srgbClr>
            </a:outerShdw>
          </a:effectLst>
        </p:spPr>
      </p:sp>
      <p:sp>
        <p:nvSpPr>
          <p:cNvPr id="6" name="Text 5"/>
          <p:cNvSpPr/>
          <p:nvPr/>
        </p:nvSpPr>
        <p:spPr>
          <a:xfrm>
            <a:off x="457200" y="3858768"/>
            <a:ext cx="3749040" cy="411480"/>
          </a:xfrm>
          <a:prstGeom prst="rect">
            <a:avLst/>
          </a:prstGeom>
          <a:noFill/>
          <a:ln/>
        </p:spPr>
        <p:txBody>
          <a:bodyPr wrap="square" rtlCol="0" anchor="ctr"/>
          <a:lstStyle/>
          <a:p>
            <a:pPr marL="0" indent="0" algn="ctr">
              <a:buNone/>
            </a:pPr>
            <a:r>
              <a:rPr lang="en-US" sz="1100" dirty="0">
                <a:solidFill>
                  <a:srgbClr val="94A3B8"/>
                </a:solidFill>
              </a:rPr>
              <a:t>Typical Pilot Zone</a:t>
            </a:r>
            <a:endParaRPr lang="en-US" sz="1100" dirty="0"/>
          </a:p>
          <a:p>
            <a:pPr marL="0" indent="0" algn="ctr">
              <a:buNone/>
            </a:pPr>
            <a:r>
              <a:rPr lang="en-US" sz="1100" dirty="0">
                <a:solidFill>
                  <a:srgbClr val="94A3B8"/>
                </a:solidFill>
              </a:rPr>
              <a:t>(50 Endpoints + 5 Nodes)</a:t>
            </a:r>
            <a:endParaRPr lang="en-US" sz="1100" dirty="0"/>
          </a:p>
        </p:txBody>
      </p:sp>
      <p:sp>
        <p:nvSpPr>
          <p:cNvPr id="9" name="Text 6"/>
          <p:cNvSpPr/>
          <p:nvPr/>
        </p:nvSpPr>
        <p:spPr>
          <a:xfrm>
            <a:off x="457200" y="4251960"/>
            <a:ext cx="3749040" cy="347472"/>
          </a:xfrm>
          <a:prstGeom prst="rect">
            <a:avLst/>
          </a:prstGeom>
          <a:noFill/>
          <a:ln/>
        </p:spPr>
        <p:txBody>
          <a:bodyPr wrap="square" rtlCol="0" anchor="ctr"/>
          <a:lstStyle/>
          <a:p>
            <a:pPr marL="0" indent="0" algn="ctr">
              <a:buNone/>
            </a:pPr>
            <a:r>
              <a:rPr lang="en-US" sz="1400" b="1" dirty="0">
                <a:solidFill>
                  <a:srgbClr val="FCD34D"/>
                </a:solidFill>
              </a:rPr>
              <a:t>~R 35,000 – R 65,000 Setup</a:t>
            </a:r>
            <a:endParaRPr lang="en-US" sz="1400" dirty="0"/>
          </a:p>
        </p:txBody>
      </p:sp>
      <p:sp>
        <p:nvSpPr>
          <p:cNvPr id="10" name="Text 7"/>
          <p:cNvSpPr/>
          <p:nvPr/>
        </p:nvSpPr>
        <p:spPr>
          <a:xfrm>
            <a:off x="457200" y="4590288"/>
            <a:ext cx="3749040" cy="256032"/>
          </a:xfrm>
          <a:prstGeom prst="rect">
            <a:avLst/>
          </a:prstGeom>
          <a:noFill/>
          <a:ln/>
        </p:spPr>
        <p:txBody>
          <a:bodyPr wrap="square" rtlCol="0" anchor="ctr"/>
          <a:lstStyle/>
          <a:p>
            <a:pPr marL="0" indent="0" algn="ctr">
              <a:buNone/>
            </a:pPr>
            <a:r>
              <a:rPr lang="en-US" sz="1000" i="1" dirty="0">
                <a:solidFill>
                  <a:srgbClr val="94A3B8"/>
                </a:solidFill>
              </a:rPr>
              <a:t>vs. R 500K+ replacement per theft incident</a:t>
            </a:r>
            <a:endParaRPr lang="en-US" sz="1000" dirty="0"/>
          </a:p>
        </p:txBody>
      </p:sp>
      <p:sp>
        <p:nvSpPr>
          <p:cNvPr id="11" name="Shape 8"/>
          <p:cNvSpPr/>
          <p:nvPr/>
        </p:nvSpPr>
        <p:spPr>
          <a:xfrm>
            <a:off x="4663440" y="3822192"/>
            <a:ext cx="4114800" cy="1097280"/>
          </a:xfrm>
          <a:prstGeom prst="roundRect">
            <a:avLst>
              <a:gd name="adj" fmla="val 8333"/>
            </a:avLst>
          </a:prstGeom>
          <a:solidFill>
            <a:srgbClr val="0D9488">
              <a:alpha val="15000"/>
            </a:srgbClr>
          </a:solidFill>
          <a:ln w="12700">
            <a:solidFill>
              <a:srgbClr val="0D9488"/>
            </a:solidFill>
            <a:prstDash val="solid"/>
          </a:ln>
        </p:spPr>
      </p:sp>
      <p:sp>
        <p:nvSpPr>
          <p:cNvPr id="12" name="Text 9"/>
          <p:cNvSpPr/>
          <p:nvPr/>
        </p:nvSpPr>
        <p:spPr>
          <a:xfrm>
            <a:off x="4754880" y="3858768"/>
            <a:ext cx="3931920" cy="347472"/>
          </a:xfrm>
          <a:prstGeom prst="rect">
            <a:avLst/>
          </a:prstGeom>
          <a:noFill/>
          <a:ln/>
        </p:spPr>
        <p:txBody>
          <a:bodyPr wrap="square" rtlCol="0" anchor="ctr"/>
          <a:lstStyle/>
          <a:p>
            <a:pPr marL="0" indent="0">
              <a:buNone/>
            </a:pPr>
            <a:r>
              <a:rPr lang="en-US" sz="1300" b="1" dirty="0">
                <a:solidFill>
                  <a:srgbClr val="14B8A6"/>
                </a:solidFill>
              </a:rPr>
              <a:t>ROI Break-Even</a:t>
            </a:r>
            <a:endParaRPr lang="en-US" sz="1300" dirty="0"/>
          </a:p>
        </p:txBody>
      </p:sp>
      <p:sp>
        <p:nvSpPr>
          <p:cNvPr id="13" name="Text 10"/>
          <p:cNvSpPr/>
          <p:nvPr/>
        </p:nvSpPr>
        <p:spPr>
          <a:xfrm>
            <a:off x="4754880" y="4187952"/>
            <a:ext cx="3931920" cy="658368"/>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Prevention of a single theft incident typically covers the full pilot deployment cost — making GridGuard AI self-funding from day one.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a:effectLst/>
      </p:bgPr>
    </p:bg>
    <p:spTree>
      <p:nvGrpSpPr>
        <p:cNvPr id="1" name=""/>
        <p:cNvGrpSpPr/>
        <p:nvPr/>
      </p:nvGrpSpPr>
      <p:grpSpPr>
        <a:xfrm>
          <a:off x="0" y="0"/>
          <a:ext cx="0" cy="0"/>
          <a:chOff x="0" y="0"/>
          <a:chExt cx="0" cy="0"/>
        </a:xfrm>
      </p:grpSpPr>
      <p:sp>
        <p:nvSpPr>
          <p:cNvPr id="4" name="Text 2"/>
          <p:cNvSpPr/>
          <p:nvPr/>
        </p:nvSpPr>
        <p:spPr>
          <a:xfrm>
            <a:off x="914400" y="1508760"/>
            <a:ext cx="7315200" cy="164592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 </a:t>
            </a:r>
            <a:endParaRPr lang="en-US" sz="4400" dirty="0"/>
          </a:p>
        </p:txBody>
      </p:sp>
      <p:sp>
        <p:nvSpPr>
          <p:cNvPr id="5" name="Text 3"/>
          <p:cNvSpPr/>
          <p:nvPr/>
        </p:nvSpPr>
        <p:spPr>
          <a:xfrm>
            <a:off x="1371600" y="3154680"/>
            <a:ext cx="6400800" cy="411480"/>
          </a:xfrm>
          <a:prstGeom prst="rect">
            <a:avLst/>
          </a:prstGeom>
          <a:noFill/>
          <a:ln/>
        </p:spPr>
        <p:txBody>
          <a:bodyPr wrap="square" rtlCol="0" anchor="ctr"/>
          <a:lstStyle/>
          <a:p>
            <a:pPr marL="0" indent="0" algn="ctr">
              <a:buNone/>
            </a:pPr>
            <a:r>
              <a:rPr lang="en-US" sz="1600" i="1" dirty="0">
                <a:solidFill>
                  <a:srgbClr val="FCD34D"/>
                </a:solidFill>
              </a:rPr>
              <a:t>Protecting infrastructure, improving performance</a:t>
            </a:r>
          </a:p>
          <a:p>
            <a:pPr marL="0" indent="0" algn="ctr">
              <a:buNone/>
            </a:pPr>
            <a:r>
              <a:rPr lang="en-US" sz="1600" i="1" dirty="0">
                <a:solidFill>
                  <a:srgbClr val="FCD34D"/>
                </a:solidFill>
              </a:rPr>
              <a:t> before communities feel the dark.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795</Words>
  <Application>Microsoft Office PowerPoint</Application>
  <PresentationFormat>On-screen Show (16:9)</PresentationFormat>
  <Paragraphs>129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GridGuard AI</dc:title>
  <dc:subject>PptxGenJS Presentation</dc:subject>
  <dc:creator>PptxGenJS</dc:creator>
  <cp:lastModifiedBy>W Djumo (21956671)</cp:lastModifiedBy>
  <cp:revision>3</cp:revision>
  <dcterms:created xsi:type="dcterms:W3CDTF">2026-06-11T23:42:02Z</dcterms:created>
  <dcterms:modified xsi:type="dcterms:W3CDTF">2026-06-12T01:43:47Z</dcterms:modified>
</cp:coreProperties>
</file>